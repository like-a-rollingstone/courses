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654" autoAdjust="0"/>
  </p:normalViewPr>
  <p:slideViewPr>
    <p:cSldViewPr snapToGrid="0">
      <p:cViewPr varScale="1">
        <p:scale>
          <a:sx n="36" d="100"/>
          <a:sy n="36" d="100"/>
        </p:scale>
        <p:origin x="98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effectLst/>
              </a:rPr>
              <a:t>大家好</a:t>
            </a:r>
            <a:r>
              <a:rPr lang="en-US" altLang="zh-CN" sz="1200" kern="1200" dirty="0">
                <a:effectLst/>
              </a:rPr>
              <a:t>,</a:t>
            </a:r>
            <a:r>
              <a:rPr lang="zh-CN" altLang="zh-CN" sz="1200" kern="1200" dirty="0">
                <a:effectLst/>
              </a:rPr>
              <a:t>我们的题目是《</a:t>
            </a:r>
            <a:r>
              <a:rPr lang="en-US" altLang="zh-CN" sz="1200" kern="1200" dirty="0">
                <a:effectLst/>
              </a:rPr>
              <a:t>TSP Memetic </a:t>
            </a:r>
            <a:r>
              <a:rPr lang="zh-CN" altLang="zh-CN" sz="1200" kern="1200" dirty="0">
                <a:effectLst/>
              </a:rPr>
              <a:t>算法</a:t>
            </a:r>
            <a:r>
              <a:rPr lang="en-US" altLang="zh-CN" sz="1200" kern="1200" dirty="0">
                <a:effectLst/>
              </a:rPr>
              <a:t>——</a:t>
            </a:r>
            <a:r>
              <a:rPr lang="zh-CN" altLang="zh-CN" sz="1200" kern="1200" dirty="0">
                <a:effectLst/>
              </a:rPr>
              <a:t>边保持重组与局部搜索如何共同提升求解质量》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effectLst/>
              </a:rPr>
              <a:t>我们要讨论的是</a:t>
            </a:r>
            <a:r>
              <a:rPr lang="en-US" altLang="zh-CN" sz="1200" kern="1200" dirty="0">
                <a:effectLst/>
              </a:rPr>
              <a:t>TSP</a:t>
            </a:r>
            <a:r>
              <a:rPr lang="zh-CN" altLang="zh-CN" sz="1200" kern="1200" dirty="0">
                <a:effectLst/>
              </a:rPr>
              <a:t>，也就是旅行商问题。</a:t>
            </a:r>
            <a:r>
              <a:rPr lang="zh-CN" altLang="en-US" sz="1200" kern="1200" dirty="0">
                <a:effectLst/>
              </a:rPr>
              <a:t>老师在课上已经讲过了，所以我们不做赘述。由于</a:t>
            </a:r>
            <a:r>
              <a:rPr lang="en-US" altLang="zh-CN" sz="1200" kern="1200" dirty="0">
                <a:effectLst/>
              </a:rPr>
              <a:t>TSP</a:t>
            </a:r>
            <a:r>
              <a:rPr lang="zh-CN" altLang="en-US" sz="1200" kern="1200" dirty="0">
                <a:effectLst/>
              </a:rPr>
              <a:t>的</a:t>
            </a:r>
            <a:r>
              <a:rPr lang="zh-CN" altLang="zh-CN" sz="1200" kern="1200" dirty="0">
                <a:effectLst/>
              </a:rPr>
              <a:t>路径数增长是阶乘级别的，</a:t>
            </a:r>
            <a:r>
              <a:rPr lang="zh-CN" altLang="en-US" sz="1200" kern="1200" dirty="0">
                <a:effectLst/>
              </a:rPr>
              <a:t>所以</a:t>
            </a:r>
            <a:r>
              <a:rPr lang="zh-CN" altLang="zh-CN" sz="1200" kern="1200" dirty="0">
                <a:effectLst/>
              </a:rPr>
              <a:t>只能用启发式算法求近似最优。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effectLst/>
              </a:rPr>
              <a:t>我们用的是</a:t>
            </a:r>
            <a:r>
              <a:rPr lang="en-US" altLang="zh-CN" sz="1200" kern="1200" dirty="0">
                <a:effectLst/>
              </a:rPr>
              <a:t> Memetic </a:t>
            </a:r>
            <a:r>
              <a:rPr lang="zh-CN" altLang="zh-CN" sz="1200" kern="1200" dirty="0">
                <a:effectLst/>
              </a:rPr>
              <a:t>算法</a:t>
            </a:r>
            <a:r>
              <a:rPr lang="en-US" altLang="zh-CN" sz="1200" kern="1200" dirty="0">
                <a:effectLst/>
              </a:rPr>
              <a:t>,</a:t>
            </a:r>
            <a:r>
              <a:rPr lang="zh-CN" altLang="zh-CN" sz="1200" kern="1200" dirty="0">
                <a:effectLst/>
              </a:rPr>
              <a:t>本质是遗传算法的全局搜索加上局部搜索，这是大致的流程图。种群初始化后</a:t>
            </a:r>
            <a:r>
              <a:rPr lang="en-US" altLang="zh-CN" sz="1200" kern="1200" dirty="0">
                <a:effectLst/>
              </a:rPr>
              <a:t>,</a:t>
            </a:r>
            <a:r>
              <a:rPr lang="zh-CN" altLang="zh-CN" sz="1200" kern="1200" dirty="0">
                <a:effectLst/>
              </a:rPr>
              <a:t>选择、交叉变异、对子代做局部搜索、再更新种群</a:t>
            </a:r>
            <a:r>
              <a:rPr lang="en-US" altLang="zh-CN" sz="1200" kern="1200" dirty="0">
                <a:effectLst/>
              </a:rPr>
              <a:t>,</a:t>
            </a:r>
            <a:r>
              <a:rPr lang="zh-CN" altLang="zh-CN" sz="1200" kern="1200" dirty="0">
                <a:effectLst/>
              </a:rPr>
              <a:t>循环迭代。这里有两个关键设计点</a:t>
            </a:r>
            <a:r>
              <a:rPr lang="en-US" altLang="zh-CN" sz="1200" kern="1200" dirty="0">
                <a:effectLst/>
              </a:rPr>
              <a:t>——</a:t>
            </a:r>
            <a:r>
              <a:rPr lang="zh-CN" altLang="zh-CN" sz="1200" kern="1200" dirty="0">
                <a:effectLst/>
              </a:rPr>
              <a:t>选哪种交叉、选哪种局部搜索</a:t>
            </a:r>
            <a:r>
              <a:rPr lang="en-US" altLang="zh-CN" sz="1200" kern="1200" dirty="0">
                <a:effectLst/>
              </a:rPr>
              <a:t>,</a:t>
            </a:r>
            <a:r>
              <a:rPr lang="zh-CN" altLang="zh-CN" sz="1200" kern="1200" dirty="0">
                <a:effectLst/>
              </a:rPr>
              <a:t>也是我们研究的重点。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effectLst/>
              </a:rPr>
              <a:t>交叉算子分两类。一类以城市为单位</a:t>
            </a:r>
            <a:r>
              <a:rPr lang="en-US" altLang="zh-CN" sz="1200" kern="1200" dirty="0">
                <a:effectLst/>
              </a:rPr>
              <a:t>,</a:t>
            </a:r>
            <a:r>
              <a:rPr lang="zh-CN" altLang="zh-CN" sz="1200" kern="1200" dirty="0">
                <a:effectLst/>
              </a:rPr>
              <a:t> 重组的是城市在排列里的顺序。大家看右上角这个图，这个序列就是路线经过城市的顺序，那么以城市为单位的交叉就是把上面这四个点</a:t>
            </a:r>
            <a:r>
              <a:rPr lang="en-US" altLang="zh-CN" sz="1200" kern="1200" dirty="0">
                <a:effectLst/>
              </a:rPr>
              <a:t>5378</a:t>
            </a:r>
            <a:r>
              <a:rPr lang="zh-CN" altLang="zh-CN" sz="1200" kern="1200" dirty="0">
                <a:effectLst/>
              </a:rPr>
              <a:t>跟下面的这的</a:t>
            </a:r>
            <a:r>
              <a:rPr lang="en-US" altLang="zh-CN" sz="1200" kern="1200" dirty="0">
                <a:effectLst/>
              </a:rPr>
              <a:t>7418</a:t>
            </a:r>
            <a:r>
              <a:rPr lang="zh-CN" altLang="zh-CN" sz="1200" kern="1200" dirty="0">
                <a:effectLst/>
              </a:rPr>
              <a:t>直接交换，然后再按特定的方法修改重复的点。这种交叉方式有什么坏处呢？我们知道，在</a:t>
            </a:r>
            <a:r>
              <a:rPr lang="en-US" altLang="zh-CN" sz="1200" kern="1200" dirty="0">
                <a:effectLst/>
              </a:rPr>
              <a:t>TSP</a:t>
            </a:r>
            <a:r>
              <a:rPr lang="zh-CN" altLang="zh-CN" sz="1200" kern="1200" dirty="0">
                <a:effectLst/>
              </a:rPr>
              <a:t>中，真正重要的不是点，而是边的</a:t>
            </a:r>
            <a:r>
              <a:rPr lang="zh-CN" altLang="en-US" sz="1200" kern="1200" dirty="0">
                <a:effectLst/>
              </a:rPr>
              <a:t>长度</a:t>
            </a:r>
            <a:r>
              <a:rPr lang="zh-CN" altLang="zh-CN" sz="1200" kern="1200" dirty="0">
                <a:effectLst/>
              </a:rPr>
              <a:t>，如果我们像这样忽视边，</a:t>
            </a:r>
            <a:r>
              <a:rPr lang="zh-CN" altLang="en-US" sz="1200" kern="1200" dirty="0">
                <a:effectLst/>
              </a:rPr>
              <a:t>父代传承下来的共同的</a:t>
            </a:r>
            <a:r>
              <a:rPr lang="zh-CN" altLang="zh-CN" sz="1200" kern="1200" dirty="0">
                <a:effectLst/>
              </a:rPr>
              <a:t>好的边就可能会被打断。那么下面这种是怎么交叉的呢？他会先找哪些是父代都有的，留下的好的边，比如这里父代都有</a:t>
            </a:r>
            <a:r>
              <a:rPr lang="en-US" altLang="zh-CN" sz="1200" kern="1200" dirty="0">
                <a:effectLst/>
              </a:rPr>
              <a:t>539</a:t>
            </a:r>
            <a:r>
              <a:rPr lang="zh-CN" altLang="zh-CN" sz="1200" kern="1200" dirty="0">
                <a:effectLst/>
              </a:rPr>
              <a:t>，都有</a:t>
            </a:r>
            <a:r>
              <a:rPr lang="en-US" altLang="zh-CN" sz="1200" kern="1200" dirty="0">
                <a:effectLst/>
              </a:rPr>
              <a:t>12</a:t>
            </a:r>
            <a:r>
              <a:rPr lang="zh-CN" altLang="zh-CN" sz="1200" kern="1200" dirty="0">
                <a:effectLst/>
              </a:rPr>
              <a:t>，都有</a:t>
            </a:r>
            <a:r>
              <a:rPr lang="en-US" altLang="zh-CN" sz="1200" kern="1200" dirty="0">
                <a:effectLst/>
              </a:rPr>
              <a:t>06</a:t>
            </a:r>
            <a:r>
              <a:rPr lang="zh-CN" altLang="zh-CN" sz="1200" kern="1200" dirty="0">
                <a:effectLst/>
              </a:rPr>
              <a:t>，那我们在交叉的时候就不要打断这些边，也就是将它们当作基本单元，再去进行重组。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大家可以看左边这张图，</a:t>
            </a:r>
            <a:r>
              <a:rPr dirty="0" err="1"/>
              <a:t>同一对父代,以位置为单位的</a:t>
            </a:r>
            <a:r>
              <a:rPr dirty="0"/>
              <a:t> PMX 把 87 </a:t>
            </a:r>
            <a:r>
              <a:rPr dirty="0" err="1"/>
              <a:t>条共同边打断了</a:t>
            </a:r>
            <a:r>
              <a:rPr dirty="0"/>
              <a:t> 30 </a:t>
            </a:r>
            <a:r>
              <a:rPr dirty="0" err="1"/>
              <a:t>条;而以边为单位的</a:t>
            </a:r>
            <a:r>
              <a:rPr dirty="0"/>
              <a:t> DPX,87 </a:t>
            </a:r>
            <a:r>
              <a:rPr dirty="0" err="1"/>
              <a:t>条全部保留、当作骨架再重连成回路。好的</a:t>
            </a:r>
            <a:r>
              <a:rPr dirty="0"/>
              <a:t> TSP </a:t>
            </a:r>
            <a:r>
              <a:rPr dirty="0" err="1"/>
              <a:t>交叉应优先保住边结构,再考虑怎么补成合法回路</a:t>
            </a:r>
            <a:r>
              <a:rPr dirty="0"/>
              <a:t>。</a:t>
            </a:r>
            <a:r>
              <a:rPr lang="zh-CN" altLang="en-US" dirty="0"/>
              <a:t>所以我们认为</a:t>
            </a:r>
            <a:r>
              <a:rPr lang="zh-CN" altLang="en-US" sz="1200" b="0" dirty="0">
                <a:solidFill>
                  <a:srgbClr val="003F88"/>
                </a:solidFill>
              </a:rPr>
              <a:t>基于边的表示是</a:t>
            </a:r>
            <a:r>
              <a:rPr lang="en-US" altLang="zh-CN" sz="1200" b="0" dirty="0">
                <a:solidFill>
                  <a:srgbClr val="003F88"/>
                </a:solidFill>
              </a:rPr>
              <a:t>TSP</a:t>
            </a:r>
            <a:r>
              <a:rPr lang="zh-CN" altLang="en-US" sz="1200" b="0" dirty="0">
                <a:solidFill>
                  <a:srgbClr val="003F88"/>
                </a:solidFill>
              </a:rPr>
              <a:t>更合适的遗传单位。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局部搜索方面</a:t>
            </a:r>
            <a:r>
              <a:rPr dirty="0"/>
              <a:t>, </a:t>
            </a:r>
            <a:r>
              <a:rPr lang="en-US" dirty="0"/>
              <a:t>2</a:t>
            </a:r>
            <a:r>
              <a:rPr lang="en-US" altLang="zh-CN" dirty="0"/>
              <a:t>opt</a:t>
            </a:r>
            <a:r>
              <a:rPr dirty="0"/>
              <a:t>固定每次换两条</a:t>
            </a:r>
            <a:r>
              <a:rPr lang="zh-CN" altLang="en-US" dirty="0"/>
              <a:t>边，比如图里</a:t>
            </a:r>
            <a:r>
              <a:rPr lang="en-US" altLang="zh-CN" dirty="0"/>
              <a:t>0256</a:t>
            </a:r>
            <a:r>
              <a:rPr lang="zh-CN" altLang="en-US" dirty="0"/>
              <a:t>，换成</a:t>
            </a:r>
            <a:r>
              <a:rPr lang="en-US" altLang="zh-CN" dirty="0"/>
              <a:t>0526</a:t>
            </a:r>
            <a:r>
              <a:rPr lang="zh-CN" altLang="en-US" dirty="0"/>
              <a:t>，就能减小路径长度</a:t>
            </a:r>
            <a:r>
              <a:rPr dirty="0"/>
              <a:t>。而 </a:t>
            </a:r>
            <a:r>
              <a:rPr dirty="0" err="1"/>
              <a:t>L</a:t>
            </a:r>
            <a:r>
              <a:rPr lang="en-US" dirty="0" err="1"/>
              <a:t>K</a:t>
            </a:r>
            <a:r>
              <a:rPr dirty="0" err="1"/>
              <a:t>不固定交换规模</a:t>
            </a:r>
            <a:r>
              <a:rPr dirty="0"/>
              <a:t>,</a:t>
            </a:r>
            <a:r>
              <a:rPr lang="zh-CN" altLang="en-US" dirty="0"/>
              <a:t>用</a:t>
            </a:r>
            <a:r>
              <a:rPr dirty="0" err="1"/>
              <a:t>累计收益动态决定走多深,所以邻域更大,能挖到更深的局部最优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effectLst/>
              </a:rPr>
              <a:t>从这张图中，我们可以看到经过</a:t>
            </a:r>
            <a:r>
              <a:rPr lang="en-US" altLang="zh-CN" sz="1200" kern="1200" dirty="0">
                <a:effectLst/>
              </a:rPr>
              <a:t>LK</a:t>
            </a:r>
            <a:r>
              <a:rPr lang="zh-CN" altLang="zh-CN" sz="1200" kern="1200" dirty="0">
                <a:effectLst/>
              </a:rPr>
              <a:t>后，路径是明显缩短了的。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这是代码部分。由于时间原因，我们就先略过。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effectLst/>
              </a:rPr>
              <a:t>接下来我们来看看实验结果。横轴是迭代次数，纵轴是与最优路径的差距，这个值越小说明结果越好。上面这条灰色的是不加局部搜索的，</a:t>
            </a:r>
            <a:r>
              <a:rPr lang="zh-CN" altLang="en-US" sz="1200" kern="1200" dirty="0">
                <a:effectLst/>
              </a:rPr>
              <a:t>所以结果明显很差。</a:t>
            </a:r>
            <a:r>
              <a:rPr lang="zh-CN" altLang="zh-CN" sz="1200" kern="1200" dirty="0">
                <a:effectLst/>
              </a:rPr>
              <a:t>右边这张图是左边的放大版，这条黄色和粉色的是</a:t>
            </a:r>
            <a:r>
              <a:rPr lang="en-US" altLang="zh-CN" sz="1200" kern="1200" dirty="0">
                <a:effectLst/>
              </a:rPr>
              <a:t>2-opt</a:t>
            </a:r>
            <a:r>
              <a:rPr lang="zh-CN" altLang="zh-CN" sz="1200" kern="1200" dirty="0">
                <a:effectLst/>
              </a:rPr>
              <a:t>的，最下面三条是</a:t>
            </a:r>
            <a:r>
              <a:rPr lang="en-US" altLang="zh-CN" sz="1200" kern="1200" dirty="0">
                <a:effectLst/>
              </a:rPr>
              <a:t>LK</a:t>
            </a:r>
            <a:r>
              <a:rPr lang="zh-CN" altLang="zh-CN" sz="1200" kern="1200" dirty="0">
                <a:effectLst/>
              </a:rPr>
              <a:t>的。我们可以看到加入</a:t>
            </a:r>
            <a:r>
              <a:rPr lang="en-US" altLang="zh-CN" sz="1200" kern="1200" dirty="0">
                <a:effectLst/>
              </a:rPr>
              <a:t>2-opt</a:t>
            </a:r>
            <a:r>
              <a:rPr lang="zh-CN" altLang="zh-CN" sz="1200" kern="1200" dirty="0">
                <a:effectLst/>
              </a:rPr>
              <a:t>后的算法明显优于不加局部搜索的算法，而把</a:t>
            </a:r>
            <a:r>
              <a:rPr lang="en-US" altLang="zh-CN" sz="1200" kern="1200" dirty="0">
                <a:effectLst/>
              </a:rPr>
              <a:t>2-opt</a:t>
            </a:r>
            <a:r>
              <a:rPr lang="zh-CN" altLang="zh-CN" sz="1200" kern="1200" dirty="0">
                <a:effectLst/>
              </a:rPr>
              <a:t>换成</a:t>
            </a:r>
            <a:r>
              <a:rPr lang="en-US" altLang="zh-CN" sz="1200" kern="1200" dirty="0">
                <a:effectLst/>
              </a:rPr>
              <a:t>LK</a:t>
            </a:r>
            <a:r>
              <a:rPr lang="zh-CN" altLang="zh-CN" sz="1200" kern="1200" dirty="0">
                <a:effectLst/>
              </a:rPr>
              <a:t>后效果会进一步提升。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这是最终的结果。我们可以发现以边为单位的交叉算子结果确实会比另一种好一些，同时</a:t>
            </a:r>
            <a:r>
              <a:rPr lang="en-US" altLang="zh-CN" dirty="0"/>
              <a:t>LK</a:t>
            </a:r>
            <a:r>
              <a:rPr lang="zh-CN" altLang="en-US" dirty="0"/>
              <a:t>也是比</a:t>
            </a:r>
            <a:r>
              <a:rPr lang="en-US" altLang="zh-CN" dirty="0"/>
              <a:t>2opt</a:t>
            </a:r>
            <a:r>
              <a:rPr lang="zh-CN" altLang="en-US" dirty="0"/>
              <a:t>会好一些，这和我们的预期一致。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我们在多组不同的地图中进行测试，发现</a:t>
            </a:r>
            <a:r>
              <a:rPr lang="en-US" altLang="zh-CN" dirty="0"/>
              <a:t>GX+LK</a:t>
            </a:r>
            <a:r>
              <a:rPr lang="zh-CN" altLang="en-US" dirty="0"/>
              <a:t>这个组合要么是最优解，要么是与最优解相近，可以算是很好的方案。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398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effectLst/>
              </a:rPr>
              <a:t>此外，我们也可以调整</a:t>
            </a:r>
            <a:r>
              <a:rPr lang="en-US" altLang="zh-CN" sz="1200" kern="1200" dirty="0">
                <a:effectLst/>
              </a:rPr>
              <a:t>LK</a:t>
            </a:r>
            <a:r>
              <a:rPr lang="zh-CN" altLang="zh-CN" sz="1200" kern="1200" dirty="0">
                <a:effectLst/>
              </a:rPr>
              <a:t>的强度，发现持续增强</a:t>
            </a:r>
            <a:r>
              <a:rPr lang="en-US" altLang="zh-CN" sz="1200" kern="1200" dirty="0">
                <a:effectLst/>
              </a:rPr>
              <a:t>LK</a:t>
            </a:r>
            <a:r>
              <a:rPr lang="zh-CN" altLang="zh-CN" sz="1200" kern="1200" dirty="0">
                <a:effectLst/>
              </a:rPr>
              <a:t>不会单调地使收益增加，要和交叉算子、时间预算匹配。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222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effectLst/>
              </a:rPr>
              <a:t>增大种群规模并不一定是一件好事，对于不同的方案，最终的效果甚至可能会变差，而且运算时间是会大幅增加的。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96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C4D69-9C4E-446C-ADE3-701B624A9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F755E-F744-4AF8-88E2-294CF3DE5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377D0-728C-4DDB-8088-2989C61982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CA7BF1-AB44-447B-AB5F-6BF337E5B6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FF33DA-A4D6-4C4A-8CB2-DFA12A5CCC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58979-5AD9-4864-B4A7-FA704AAC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4C214D-E2EB-47C3-B984-7701D6FEBE0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A68DAF-A034-45F1-A5E1-9DD9F6F289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1DEF11-5F3E-4BD6-9B96-9A9F2C5AFF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383235-71BC-4448-BDAC-0755991E52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8CF62-C3C4-4239-92CC-03B06DAC7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4076CC-16BC-49E5-A546-55A3FB006E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FA18C2-0030-45F8-83BA-37786BA5C7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99E75-5A8C-4DF2-A1AF-97E7F269F7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EF21A-82A2-4318-939E-5D33DC983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AB89D-4EA1-4D04-AB95-CBCAF6FB1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E476D-8643-42A3-9AE6-BA028F3BBD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E82A6-374C-496D-AB5A-C83A6372389A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B4B42F-D705-4A10-B0C3-D9A23D2562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9EF4FB-C2EB-4DEB-B00E-E7F825A691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2D6EC1-772C-4DF1-8038-A4F91AC765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DF3B4-0502-4DE5-AF3C-7E7FE318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EC343A-B58B-4DC3-B5D8-8608827AC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2AB4BF-E16D-4727-AD94-F62804078440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3DD52-1A18-4C0C-81CD-7CE5F38231F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2F04F0-1AD6-465F-8CC5-CB9D2B260E65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05F749-F5C1-40F5-8C18-F9EA619254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0B17CB-590E-432E-AB73-4D62C4E252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6A4890-AB4E-48DF-A80A-D838D4082E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91FCF-E354-4A75-920D-702B5A3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56F7E2-188D-4689-87D7-859138A679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6E1584-24E6-4B5D-9563-D1F0B4EDAB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D33960-18F7-47E4-A12D-9E24480738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A194D6-D54A-4A96-8EA6-71A20BDB64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EB3CAA-998D-4156-8EE6-7D4EBD4B54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8EAE5-5ADB-49FA-819B-7F1116AB3A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A7E7C-0FAF-4F76-94E5-CF8D3E2FA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C303B-3845-4883-9A84-E338940D42B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199EE6-329C-43A8-BBAB-59B4F422C35C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3DEC4D-01E4-4254-81F5-98D824061A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F129DD-EC2A-4BE3-B15F-FA7C26B6C0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0BD355-A0C4-4E77-ADD1-C302AD8303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95E66-0674-4283-A0FE-A5A764647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870BD8-E140-4D63-9FCE-7B801C403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4067E8-84F4-4218-84E5-B2D877025D53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DAD110-3A22-4CDF-8BE5-0C45A8125E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1B5F5E-5243-4079-B4A7-B10EE1109A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B1E68D-FA97-4877-B321-E146B34B2B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CE8BE-F0D6-47DE-9213-A09616C5D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40430C-A0B1-4A5F-A397-9A54D94CE2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E47541-2D1C-476D-AB87-CACC2C6FDC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F6E944-5EC5-4B83-BDA9-B8B072C020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2BC14-4C58-4689-9DFF-AED978496E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DDED0B-C5B5-4A6E-81D6-7C5E9B940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7C191D-A0AB-4294-83A2-317971D7B6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13D5F7-57A0-4418-8F86-7E4AFC50AE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382AC6-98EC-46B0-B4E5-26A4EF6F8B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40939-DF81-4649-BD28-F510A18373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EE32C2-5FDC-40E1-AD53-545CC803DD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0DFAAC-1D1C-437B-A973-4DDBFD2A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C63FA4-D732-4E48-B5AB-B3FFB1D85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70BB12-1D2F-492E-8217-2F917C89C4F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1865-B79A-43E4-B218-34456B6B12C9}" type="datetimeFigureOut">
              <a:t>2026/6/21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ECDB23-D9D2-49E7-8448-5E3BE6BC199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A23B41-DD6E-4E96-821B-50F1AF508EB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32C2-5FDC-40E1-AD53-545CC803DDC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333C0DF-88E0-4B4F-BC70-459D61762E20}"/>
              </a:ext>
            </a:extLst>
          </p:cNvPr>
          <p:cNvSpPr>
            <a:spLocks noGrp="1"/>
          </p:cNvSpPr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A3A790BA-11C6-44FB-B5A0-088CF6D7ADBC}"/>
              </a:ext>
            </a:extLst>
          </p:cNvPr>
          <p:cNvSpPr>
            <a:spLocks noGrp="1"/>
          </p:cNvSpPr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E36B0B24-50A3-479B-AB75-0C7F63CF3E7A}"/>
              </a:ext>
            </a:extLst>
          </p:cNvPr>
          <p:cNvSpPr>
            <a:spLocks noGrp="1"/>
          </p:cNvSpPr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EB1838-A5F2-440D-BB74-574B8D702851}"/>
              </a:ext>
            </a:extLst>
          </p:cNvPr>
          <p:cNvSpPr>
            <a:spLocks noGrp="1"/>
          </p:cNvSpPr>
          <p:nvPr/>
        </p:nvSpPr>
        <p:spPr>
          <a:xfrm>
            <a:off x="1783715" y="5307330"/>
            <a:ext cx="8968740" cy="541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sz="2400" b="1"/>
              <a:t>汇报人：郑智瑄，李维扬，魏希浩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216AFE-EB61-47D1-AE49-1A8F7B4AF825}"/>
              </a:ext>
            </a:extLst>
          </p:cNvPr>
          <p:cNvSpPr>
            <a:spLocks noGrp="1"/>
          </p:cNvSpPr>
          <p:nvPr/>
        </p:nvSpPr>
        <p:spPr>
          <a:xfrm>
            <a:off x="1843486" y="2588017"/>
            <a:ext cx="850502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TSP Memetic Algorithm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044FD7-3816-4288-8BD2-7EE9ADC2526D}"/>
              </a:ext>
            </a:extLst>
          </p:cNvPr>
          <p:cNvSpPr>
            <a:spLocks noGrp="1"/>
          </p:cNvSpPr>
          <p:nvPr/>
        </p:nvSpPr>
        <p:spPr>
          <a:xfrm>
            <a:off x="1692000" y="3635334"/>
            <a:ext cx="1096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600" b="1" spc="100" dirty="0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——</a:t>
            </a:r>
            <a:r>
              <a:rPr sz="280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边保持重组与局部搜索如何共同提升遗传算法的求解质量</a:t>
            </a:r>
            <a:endParaRPr sz="280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</a:pPr>
            <a:endParaRPr sz="280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7172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0C4C7BB-DFE1-46C2-841C-27135C6F42CE}"/>
              </a:ext>
            </a:extLst>
          </p:cNvPr>
          <p:cNvSpPr>
            <a:spLocks noGrp="1"/>
          </p:cNvSpPr>
          <p:nvPr/>
        </p:nvSpPr>
        <p:spPr>
          <a:xfrm>
            <a:off x="1021087" y="43216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003F88"/>
                </a:solidFill>
              </a:rPr>
              <a:t>TSP：旅行商问题</a:t>
            </a:r>
            <a:endParaRPr sz="2800" b="1" dirty="0">
              <a:solidFill>
                <a:srgbClr val="003F88"/>
              </a:solidFill>
            </a:endParaRPr>
          </a:p>
        </p:txBody>
      </p:sp>
      <p:pic>
        <p:nvPicPr>
          <p:cNvPr id="23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62688"/>
            <a:ext cx="5722731" cy="4421703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049FD32C-C3EF-11AA-1220-E9C38AF3B047}"/>
              </a:ext>
            </a:extLst>
          </p:cNvPr>
          <p:cNvSpPr>
            <a:spLocks noGrp="1"/>
          </p:cNvSpPr>
          <p:nvPr/>
        </p:nvSpPr>
        <p:spPr>
          <a:xfrm>
            <a:off x="1021087" y="107734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i="1" dirty="0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000" i="1" dirty="0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Travelling Salesman Problem</a:t>
            </a:r>
            <a:r>
              <a:rPr lang="zh-CN" altLang="en-US" sz="2000" i="1" dirty="0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）</a:t>
            </a:r>
            <a:endParaRPr sz="2000" i="1" dirty="0">
              <a:solidFill>
                <a:srgbClr val="58617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FF637FE-0A7D-8224-DC04-DDBDFFFED7E0}"/>
              </a:ext>
            </a:extLst>
          </p:cNvPr>
          <p:cNvSpPr>
            <a:spLocks noGrp="1"/>
          </p:cNvSpPr>
          <p:nvPr/>
        </p:nvSpPr>
        <p:spPr>
          <a:xfrm>
            <a:off x="373269" y="1868296"/>
            <a:ext cx="5495094" cy="640080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2000" dirty="0" err="1">
                <a:solidFill>
                  <a:srgbClr val="1F2933"/>
                </a:solidFill>
                <a:latin typeface="微软雅黑 (正文)"/>
                <a:ea typeface="微软雅黑 (正文)"/>
                <a:cs typeface="微软雅黑 (正文)"/>
              </a:rPr>
              <a:t>给定城市与两两距离，寻找一条访问所有城市一次并回到起点的最短闭合回路</a:t>
            </a:r>
            <a:r>
              <a:rPr sz="2000" dirty="0">
                <a:solidFill>
                  <a:srgbClr val="1F2933"/>
                </a:solidFill>
                <a:latin typeface="微软雅黑 (正文)"/>
                <a:ea typeface="微软雅黑 (正文)"/>
                <a:cs typeface="微软雅黑 (正文)"/>
              </a:rPr>
              <a:t>。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A5C9C4C-12E6-F664-A5B2-8437AF1141AD}"/>
              </a:ext>
            </a:extLst>
          </p:cNvPr>
          <p:cNvSpPr>
            <a:spLocks noGrp="1"/>
          </p:cNvSpPr>
          <p:nvPr/>
        </p:nvSpPr>
        <p:spPr>
          <a:xfrm>
            <a:off x="448061" y="2810128"/>
            <a:ext cx="786384" cy="329184"/>
          </a:xfrm>
          <a:prstGeom prst="rect">
            <a:avLst/>
          </a:prstGeom>
          <a:solidFill>
            <a:srgbClr val="2F70B7"/>
          </a:solidFill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b="1">
                <a:solidFill>
                  <a:srgbClr val="FFFFFF"/>
                </a:solidFill>
                <a:latin typeface="微软雅黑 (正文)"/>
                <a:ea typeface="微软雅黑 (正文)"/>
                <a:cs typeface="微软雅黑 (正文)"/>
              </a:rPr>
              <a:t>输入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2E987DE-B549-D157-677B-3D095AAB5D52}"/>
              </a:ext>
            </a:extLst>
          </p:cNvPr>
          <p:cNvSpPr>
            <a:spLocks noGrp="1"/>
          </p:cNvSpPr>
          <p:nvPr/>
        </p:nvSpPr>
        <p:spPr>
          <a:xfrm>
            <a:off x="1371605" y="2791840"/>
            <a:ext cx="4496758" cy="384048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>
                <a:solidFill>
                  <a:srgbClr val="1F2933"/>
                </a:solidFill>
                <a:latin typeface="微软雅黑 (正文)"/>
                <a:ea typeface="微软雅黑 (正文)"/>
                <a:cs typeface="微软雅黑 (正文)"/>
              </a:rPr>
              <a:t>n 个城市，以及每两座城市之间的距离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EFE4635-F3A2-5EC8-0808-311894D73079}"/>
              </a:ext>
            </a:extLst>
          </p:cNvPr>
          <p:cNvSpPr>
            <a:spLocks noGrp="1"/>
          </p:cNvSpPr>
          <p:nvPr/>
        </p:nvSpPr>
        <p:spPr>
          <a:xfrm>
            <a:off x="448061" y="3559936"/>
            <a:ext cx="786384" cy="329184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b="1">
                <a:solidFill>
                  <a:srgbClr val="FFFFFF"/>
                </a:solidFill>
                <a:latin typeface="微软雅黑 (正文)"/>
                <a:ea typeface="微软雅黑 (正文)"/>
                <a:cs typeface="微软雅黑 (正文)"/>
              </a:rPr>
              <a:t>约束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D19E1D8-A85D-D84E-C6E1-D0AA531CEC25}"/>
              </a:ext>
            </a:extLst>
          </p:cNvPr>
          <p:cNvSpPr>
            <a:spLocks noGrp="1"/>
          </p:cNvSpPr>
          <p:nvPr/>
        </p:nvSpPr>
        <p:spPr>
          <a:xfrm>
            <a:off x="1371604" y="3541648"/>
            <a:ext cx="4496757" cy="384048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>
                <a:solidFill>
                  <a:srgbClr val="1F2933"/>
                </a:solidFill>
                <a:latin typeface="微软雅黑 (正文)"/>
                <a:ea typeface="微软雅黑 (正文)"/>
                <a:cs typeface="微软雅黑 (正文)"/>
              </a:rPr>
              <a:t>每个城市恰好访问一次，最后回到起点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3096D2F-A297-611C-982E-233E7EC038B9}"/>
              </a:ext>
            </a:extLst>
          </p:cNvPr>
          <p:cNvSpPr>
            <a:spLocks noGrp="1"/>
          </p:cNvSpPr>
          <p:nvPr/>
        </p:nvSpPr>
        <p:spPr>
          <a:xfrm>
            <a:off x="448061" y="4309744"/>
            <a:ext cx="786384" cy="329184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b="1">
                <a:solidFill>
                  <a:srgbClr val="FFFFFF"/>
                </a:solidFill>
                <a:latin typeface="微软雅黑 (正文)"/>
                <a:ea typeface="微软雅黑 (正文)"/>
                <a:cs typeface="微软雅黑 (正文)"/>
              </a:rPr>
              <a:t>目标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3E62418-6F1F-8569-2375-3CFA2F24992E}"/>
              </a:ext>
            </a:extLst>
          </p:cNvPr>
          <p:cNvSpPr>
            <a:spLocks noGrp="1"/>
          </p:cNvSpPr>
          <p:nvPr/>
        </p:nvSpPr>
        <p:spPr>
          <a:xfrm>
            <a:off x="1371605" y="4291456"/>
            <a:ext cx="4251960" cy="38404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>
                <a:solidFill>
                  <a:srgbClr val="1F2933"/>
                </a:solidFill>
                <a:latin typeface="微软雅黑 (正文)"/>
                <a:ea typeface="微软雅黑 (正文)"/>
                <a:cs typeface="微软雅黑 (正文)"/>
              </a:rPr>
              <a:t>总路程最短的 tour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3">
                <a:extLst>
                  <a:ext uri="{FF2B5EF4-FFF2-40B4-BE49-F238E27FC236}">
                    <a16:creationId xmlns:a16="http://schemas.microsoft.com/office/drawing/2014/main" id="{72F3B610-93B5-8805-18D4-2A811312FB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023" y="5096128"/>
                <a:ext cx="5175504" cy="38404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sz="2000" b="1">
                    <a:solidFill>
                      <a:srgbClr val="004B93"/>
                    </a:solidFill>
                    <a:latin typeface="Times New Roman"/>
                    <a:ea typeface="Times New Roman"/>
                    <a:cs typeface="Times New Roman"/>
                  </a:rPr>
                  <a:t>穷举爆炸：可能路径数约为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4B93"/>
                        </a:solidFill>
                        <a:latin typeface="Cambria Math"/>
                        <a:ea typeface="Cambria Math"/>
                        <a:cs typeface="Cambria Math"/>
                      </a:rPr>
                      <m:t>(</m:t>
                    </m:r>
                    <m:r>
                      <a:rPr lang="en-US" sz="2000" b="1" i="1">
                        <a:solidFill>
                          <a:srgbClr val="004B93"/>
                        </a:solidFill>
                        <a:latin typeface="Cambria Math"/>
                        <a:ea typeface="Cambria Math"/>
                        <a:cs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4B93"/>
                        </a:solidFill>
                        <a:latin typeface="Cambria Math"/>
                        <a:ea typeface="Cambria Math"/>
                        <a:cs typeface="Cambria Math"/>
                      </a:rPr>
                      <m:t> − </m:t>
                    </m:r>
                    <m:r>
                      <a:rPr lang="en-US" sz="2000" b="1" i="1">
                        <a:solidFill>
                          <a:srgbClr val="004B93"/>
                        </a:solidFill>
                        <a:latin typeface="Cambria Math"/>
                        <a:ea typeface="Cambria Math"/>
                        <a:cs typeface="Cambria Math"/>
                      </a:rPr>
                      <m:t>𝟏</m:t>
                    </m:r>
                    <m:r>
                      <a:rPr lang="en-US" sz="2000" b="1" i="1">
                        <a:solidFill>
                          <a:srgbClr val="004B93"/>
                        </a:solidFill>
                        <a:latin typeface="Cambria Math"/>
                        <a:ea typeface="Cambria Math"/>
                        <a:cs typeface="Cambria Math"/>
                      </a:rPr>
                      <m:t>)! / </m:t>
                    </m:r>
                    <m:r>
                      <a:rPr lang="en-US" sz="2000" b="1" i="1">
                        <a:solidFill>
                          <a:srgbClr val="004B93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</m:oMath>
                </a14:m>
                <a:endParaRPr sz="2000" b="1">
                  <a:solidFill>
                    <a:srgbClr val="004B93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8" name="Text 13">
                <a:extLst>
                  <a:ext uri="{FF2B5EF4-FFF2-40B4-BE49-F238E27FC236}">
                    <a16:creationId xmlns:a16="http://schemas.microsoft.com/office/drawing/2014/main" id="{72F3B610-93B5-8805-18D4-2A811312F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23" y="5096128"/>
                <a:ext cx="5175504" cy="384047"/>
              </a:xfrm>
              <a:prstGeom prst="rect">
                <a:avLst/>
              </a:prstGeom>
              <a:blipFill>
                <a:blip r:embed="rId5"/>
                <a:stretch>
                  <a:fillRect t="-14286" b="-26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2965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01802A0-ECFD-9A22-CC31-43A8E7351B10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03F88"/>
                </a:solidFill>
              </a:rPr>
              <a:t>Memetic </a:t>
            </a:r>
            <a:r>
              <a:rPr sz="2800" b="1" dirty="0" err="1">
                <a:solidFill>
                  <a:srgbClr val="003F88"/>
                </a:solidFill>
              </a:rPr>
              <a:t>Algorithm：GA</a:t>
            </a:r>
            <a:r>
              <a:rPr sz="2800" b="1" dirty="0">
                <a:solidFill>
                  <a:srgbClr val="003F88"/>
                </a:solidFill>
              </a:rPr>
              <a:t> </a:t>
            </a:r>
            <a:r>
              <a:rPr sz="2800" b="1" dirty="0" err="1">
                <a:solidFill>
                  <a:srgbClr val="003F88"/>
                </a:solidFill>
              </a:rPr>
              <a:t>全局搜索</a:t>
            </a:r>
            <a:r>
              <a:rPr sz="2800" b="1" dirty="0">
                <a:solidFill>
                  <a:srgbClr val="003F88"/>
                </a:solidFill>
              </a:rPr>
              <a:t> + </a:t>
            </a:r>
            <a:r>
              <a:rPr sz="2800" b="1" dirty="0" err="1">
                <a:solidFill>
                  <a:srgbClr val="003F88"/>
                </a:solidFill>
              </a:rPr>
              <a:t>局部搜索</a:t>
            </a:r>
            <a:endParaRPr sz="2800" b="1" dirty="0">
              <a:solidFill>
                <a:srgbClr val="003F88"/>
              </a:solidFill>
            </a:endParaRPr>
          </a:p>
          <a:p>
            <a:endParaRPr sz="2400" b="1" dirty="0">
              <a:solidFill>
                <a:srgbClr val="003F88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E9D936-63AC-3E9F-4C1C-0B20D89BB2E0}"/>
              </a:ext>
            </a:extLst>
          </p:cNvPr>
          <p:cNvSpPr>
            <a:spLocks noGrp="1"/>
          </p:cNvSpPr>
          <p:nvPr/>
        </p:nvSpPr>
        <p:spPr>
          <a:xfrm>
            <a:off x="475779" y="1818244"/>
            <a:ext cx="6094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 dirty="0" err="1"/>
              <a:t>初始种群</a:t>
            </a:r>
            <a:endParaRPr sz="2400" b="1" dirty="0"/>
          </a:p>
          <a:p>
            <a:pPr algn="ctr">
              <a:buNone/>
            </a:pPr>
            <a:r>
              <a:rPr sz="2400" b="1" dirty="0"/>
              <a:t>   ↓</a:t>
            </a:r>
          </a:p>
          <a:p>
            <a:pPr algn="ctr">
              <a:buNone/>
            </a:pPr>
            <a:r>
              <a:rPr sz="2400" b="1" dirty="0" err="1"/>
              <a:t>选择</a:t>
            </a:r>
            <a:r>
              <a:rPr sz="2400" b="1" dirty="0"/>
              <a:t> 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Selection</a:t>
            </a:r>
          </a:p>
          <a:p>
            <a:pPr algn="ctr">
              <a:buNone/>
            </a:pPr>
            <a:r>
              <a:rPr sz="2400" b="1" dirty="0"/>
              <a:t>   ↓</a:t>
            </a:r>
          </a:p>
          <a:p>
            <a:pPr algn="ctr">
              <a:buNone/>
            </a:pPr>
            <a:r>
              <a:rPr sz="2400" b="1" dirty="0" err="1"/>
              <a:t>交叉</a:t>
            </a:r>
            <a:r>
              <a:rPr sz="2400" b="1" dirty="0"/>
              <a:t>/</a:t>
            </a:r>
            <a:r>
              <a:rPr sz="2400" b="1" dirty="0" err="1"/>
              <a:t>变异</a:t>
            </a:r>
            <a:r>
              <a:rPr sz="2400" b="1" dirty="0"/>
              <a:t> Recombination &amp; Mutation  </a:t>
            </a:r>
          </a:p>
          <a:p>
            <a:pPr algn="ctr">
              <a:buNone/>
            </a:pPr>
            <a:r>
              <a:rPr sz="2400" b="1" dirty="0"/>
              <a:t>   ↓</a:t>
            </a:r>
          </a:p>
          <a:p>
            <a:pPr algn="ctr">
              <a:buNone/>
            </a:pPr>
            <a:r>
              <a:rPr sz="2400" b="1" dirty="0" err="1"/>
              <a:t>局部搜索</a:t>
            </a:r>
            <a:r>
              <a:rPr sz="2400" b="1" dirty="0"/>
              <a:t> Local Search</a:t>
            </a:r>
          </a:p>
          <a:p>
            <a:pPr algn="ctr">
              <a:buNone/>
            </a:pPr>
            <a:r>
              <a:rPr sz="2400" b="1" dirty="0"/>
              <a:t>   ↓</a:t>
            </a:r>
          </a:p>
          <a:p>
            <a:pPr algn="ctr">
              <a:buNone/>
            </a:pPr>
            <a:r>
              <a:rPr sz="2400" b="1" dirty="0" err="1"/>
              <a:t>更新种群</a:t>
            </a:r>
            <a:r>
              <a:rPr sz="2400" b="1" dirty="0"/>
              <a:t> Replacement</a:t>
            </a:r>
          </a:p>
        </p:txBody>
      </p:sp>
      <p:cxnSp>
        <p:nvCxnSpPr>
          <p:cNvPr id="23" name="直接箭头连接符 12"/>
          <p:cNvCxnSpPr/>
          <p:nvPr/>
        </p:nvCxnSpPr>
        <p:spPr>
          <a:xfrm flipV="1">
            <a:off x="6434328" y="3492204"/>
            <a:ext cx="1054149" cy="14748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48EED1A-3092-8048-2D6A-C1969766BDD8}"/>
              </a:ext>
            </a:extLst>
          </p:cNvPr>
          <p:cNvSpPr>
            <a:spLocks noGrp="1"/>
          </p:cNvSpPr>
          <p:nvPr/>
        </p:nvSpPr>
        <p:spPr>
          <a:xfrm>
            <a:off x="7713088" y="3292149"/>
            <a:ext cx="35750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交叉算子：OX/PMX/DPX/GX</a:t>
            </a:r>
          </a:p>
        </p:txBody>
      </p:sp>
      <p:cxnSp>
        <p:nvCxnSpPr>
          <p:cNvPr id="25" name="直接箭头连接符 15"/>
          <p:cNvCxnSpPr/>
          <p:nvPr/>
        </p:nvCxnSpPr>
        <p:spPr>
          <a:xfrm flipV="1">
            <a:off x="5380179" y="4213404"/>
            <a:ext cx="1054149" cy="14748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81ADAF6-CE89-4D24-20AD-0137ED6F2FDF}"/>
              </a:ext>
            </a:extLst>
          </p:cNvPr>
          <p:cNvSpPr>
            <a:spLocks noGrp="1"/>
          </p:cNvSpPr>
          <p:nvPr/>
        </p:nvSpPr>
        <p:spPr>
          <a:xfrm>
            <a:off x="6511189" y="3970648"/>
            <a:ext cx="55633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局部搜索策略：2opt/3opt/Lin-Kernighan</a:t>
            </a:r>
          </a:p>
        </p:txBody>
      </p:sp>
    </p:spTree>
    <p:extLst>
      <p:ext uri="{BB962C8B-B14F-4D97-AF65-F5344CB8AC3E}">
        <p14:creationId xmlns:p14="http://schemas.microsoft.com/office/powerpoint/2010/main" val="266102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57B3051-4EAA-177D-8E61-4EA53D4ED710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003F88"/>
                </a:solidFill>
              </a:rPr>
              <a:t>交叉算子</a:t>
            </a:r>
            <a:endParaRPr sz="2800" b="1" dirty="0">
              <a:solidFill>
                <a:srgbClr val="003F88"/>
              </a:solidFill>
            </a:endParaRPr>
          </a:p>
        </p:txBody>
      </p:sp>
      <p:pic>
        <p:nvPicPr>
          <p:cNvPr id="53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994" y="1214178"/>
            <a:ext cx="5372469" cy="1818490"/>
          </a:xfrm>
          <a:prstGeom prst="rect">
            <a:avLst/>
          </a:prstGeom>
        </p:spPr>
      </p:pic>
      <p:pic>
        <p:nvPicPr>
          <p:cNvPr id="54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066" y="3445360"/>
            <a:ext cx="5328399" cy="2851161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10CD8F04-DE0B-86C5-975D-276D0D1ABEF0}"/>
              </a:ext>
            </a:extLst>
          </p:cNvPr>
          <p:cNvSpPr>
            <a:spLocks noGrp="1"/>
          </p:cNvSpPr>
          <p:nvPr/>
        </p:nvSpPr>
        <p:spPr>
          <a:xfrm>
            <a:off x="667796" y="1436881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400" b="1" dirty="0" err="1">
                <a:solidFill>
                  <a:srgbClr val="004B93"/>
                </a:solidFill>
                <a:latin typeface="Times New Roman"/>
                <a:ea typeface="Times New Roman"/>
                <a:cs typeface="Times New Roman"/>
              </a:rPr>
              <a:t>两类交叉算子</a:t>
            </a:r>
            <a:r>
              <a:rPr lang="zh-CN" altLang="en-US" sz="2400" b="1" dirty="0">
                <a:solidFill>
                  <a:srgbClr val="004B93"/>
                </a:solidFill>
                <a:latin typeface="Times New Roman"/>
                <a:ea typeface="Times New Roman"/>
                <a:cs typeface="Times New Roman"/>
              </a:rPr>
              <a:t>：</a:t>
            </a:r>
            <a:endParaRPr sz="2400" b="1" dirty="0">
              <a:solidFill>
                <a:srgbClr val="004B9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3F1E3B5C-E2A2-D6A8-FAE5-64D34C1FE8E9}"/>
              </a:ext>
            </a:extLst>
          </p:cNvPr>
          <p:cNvSpPr>
            <a:spLocks noGrp="1"/>
          </p:cNvSpPr>
          <p:nvPr/>
        </p:nvSpPr>
        <p:spPr>
          <a:xfrm>
            <a:off x="3971140" y="2322617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BFE97753-950A-403F-C052-A034B6DDC900}"/>
              </a:ext>
            </a:extLst>
          </p:cNvPr>
          <p:cNvSpPr>
            <a:spLocks noGrp="1"/>
          </p:cNvSpPr>
          <p:nvPr/>
        </p:nvSpPr>
        <p:spPr>
          <a:xfrm>
            <a:off x="8240982" y="3133747"/>
            <a:ext cx="1688286" cy="3116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000" i="1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PMX交叉算子</a:t>
            </a: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77CC262D-6AF5-D1B4-4EA8-CFA3B4E8D719}"/>
              </a:ext>
            </a:extLst>
          </p:cNvPr>
          <p:cNvSpPr>
            <a:spLocks noGrp="1"/>
          </p:cNvSpPr>
          <p:nvPr/>
        </p:nvSpPr>
        <p:spPr>
          <a:xfrm>
            <a:off x="8253160" y="6294866"/>
            <a:ext cx="1688286" cy="3116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000" i="1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DPX交叉算子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DB4AA97-6EEE-E5F4-BE88-6A21CD4C5C49}"/>
              </a:ext>
            </a:extLst>
          </p:cNvPr>
          <p:cNvSpPr>
            <a:spLocks noGrp="1"/>
          </p:cNvSpPr>
          <p:nvPr/>
        </p:nvSpPr>
        <p:spPr>
          <a:xfrm>
            <a:off x="924105" y="2065502"/>
            <a:ext cx="4186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①以「位置」为单位：</a:t>
            </a:r>
            <a:r>
              <a:rPr sz="1800" b="1">
                <a:solidFill>
                  <a:srgbClr val="1F2933"/>
                </a:solidFill>
                <a:latin typeface="Times New Roman"/>
                <a:ea typeface="Times New Roman"/>
                <a:cs typeface="Times New Roman"/>
              </a:rPr>
              <a:t>OX、PMX</a:t>
            </a:r>
          </a:p>
          <a:p>
            <a:endParaRPr sz="1800" b="1">
              <a:solidFill>
                <a:srgbClr val="1F293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F96F76-BEF6-B150-C6C9-C2429AB2F544}"/>
              </a:ext>
            </a:extLst>
          </p:cNvPr>
          <p:cNvSpPr>
            <a:spLocks noGrp="1"/>
          </p:cNvSpPr>
          <p:nvPr/>
        </p:nvSpPr>
        <p:spPr>
          <a:xfrm>
            <a:off x="855182" y="2663335"/>
            <a:ext cx="5240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dirty="0"/>
              <a:t>-</a:t>
            </a:r>
            <a:r>
              <a:rPr lang="en-US" altLang="zh-CN" dirty="0"/>
              <a:t> </a:t>
            </a:r>
            <a:r>
              <a:rPr dirty="0" err="1"/>
              <a:t>重组的是城市在排列中的</a:t>
            </a:r>
            <a:r>
              <a:rPr b="1" dirty="0" err="1"/>
              <a:t>位置与先后顺序</a:t>
            </a:r>
            <a:endParaRPr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202E8B2-1B4F-D6D1-0DAA-CB5EC68F8349}"/>
              </a:ext>
            </a:extLst>
          </p:cNvPr>
          <p:cNvSpPr>
            <a:spLocks noGrp="1"/>
          </p:cNvSpPr>
          <p:nvPr/>
        </p:nvSpPr>
        <p:spPr>
          <a:xfrm>
            <a:off x="907971" y="3811667"/>
            <a:ext cx="4186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②</a:t>
            </a:r>
            <a:r>
              <a:rPr b="1" dirty="0" err="1"/>
              <a:t>以「边」为单位：</a:t>
            </a:r>
            <a:r>
              <a:rPr sz="1800" b="1" dirty="0" err="1">
                <a:solidFill>
                  <a:srgbClr val="1F2933"/>
                </a:solidFill>
                <a:latin typeface="Times New Roman"/>
                <a:ea typeface="Times New Roman"/>
                <a:cs typeface="Times New Roman"/>
              </a:rPr>
              <a:t>DPX、GX</a:t>
            </a:r>
            <a:endParaRPr sz="1800" b="1" dirty="0">
              <a:solidFill>
                <a:srgbClr val="1F2933"/>
              </a:solidFill>
              <a:latin typeface="Times New Roman"/>
              <a:ea typeface="Times New Roman"/>
              <a:cs typeface="Times New Roman"/>
            </a:endParaRPr>
          </a:p>
          <a:p>
            <a:endParaRPr sz="1800" b="1" dirty="0">
              <a:solidFill>
                <a:srgbClr val="1F293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E748B7C-A521-290D-4672-1D8D6E40A229}"/>
              </a:ext>
            </a:extLst>
          </p:cNvPr>
          <p:cNvSpPr>
            <a:spLocks noGrp="1"/>
          </p:cNvSpPr>
          <p:nvPr/>
        </p:nvSpPr>
        <p:spPr>
          <a:xfrm>
            <a:off x="907971" y="4407730"/>
            <a:ext cx="4186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dirty="0"/>
              <a:t>-</a:t>
            </a:r>
            <a:r>
              <a:rPr lang="en-US" altLang="zh-CN" dirty="0"/>
              <a:t> </a:t>
            </a:r>
            <a:r>
              <a:rPr dirty="0" err="1"/>
              <a:t>直接重组城市间的</a:t>
            </a:r>
            <a:r>
              <a:rPr b="1" dirty="0" err="1"/>
              <a:t>相邻关系（边</a:t>
            </a:r>
            <a:r>
              <a:rPr b="1" dirty="0"/>
              <a:t>）</a:t>
            </a: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234D5E6F-5715-5210-D52C-D68AFA3CBEE2}"/>
              </a:ext>
            </a:extLst>
          </p:cNvPr>
          <p:cNvSpPr>
            <a:spLocks noGrp="1"/>
          </p:cNvSpPr>
          <p:nvPr/>
        </p:nvSpPr>
        <p:spPr>
          <a:xfrm>
            <a:off x="698311" y="2160783"/>
            <a:ext cx="171252" cy="184727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5F742A87-AB9C-E78E-9034-0F99E52B8545}"/>
              </a:ext>
            </a:extLst>
          </p:cNvPr>
          <p:cNvSpPr>
            <a:spLocks noGrp="1"/>
          </p:cNvSpPr>
          <p:nvPr/>
        </p:nvSpPr>
        <p:spPr>
          <a:xfrm>
            <a:off x="667796" y="3910227"/>
            <a:ext cx="171252" cy="184727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6CD9EF5-3DF2-F24D-D98A-4C49242E8C41}"/>
              </a:ext>
            </a:extLst>
          </p:cNvPr>
          <p:cNvSpPr>
            <a:spLocks noGrp="1"/>
          </p:cNvSpPr>
          <p:nvPr/>
        </p:nvSpPr>
        <p:spPr>
          <a:xfrm>
            <a:off x="855182" y="3181723"/>
            <a:ext cx="5667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dirty="0"/>
              <a:t>-</a:t>
            </a:r>
            <a:r>
              <a:rPr lang="en-US" altLang="zh-CN" dirty="0"/>
              <a:t> </a:t>
            </a:r>
            <a:r>
              <a:rPr dirty="0" err="1"/>
              <a:t>因为不直接操作边，父代的共同边可能被顺带打断</a:t>
            </a:r>
            <a:r>
              <a:rPr dirty="0"/>
              <a:t>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58065AF-955D-B665-EB78-F335893BEF77}"/>
              </a:ext>
            </a:extLst>
          </p:cNvPr>
          <p:cNvSpPr>
            <a:spLocks noGrp="1"/>
          </p:cNvSpPr>
          <p:nvPr/>
        </p:nvSpPr>
        <p:spPr>
          <a:xfrm>
            <a:off x="907970" y="4898687"/>
            <a:ext cx="5411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dirty="0"/>
              <a:t>-</a:t>
            </a:r>
            <a:r>
              <a:rPr lang="en-US" altLang="zh-CN" dirty="0"/>
              <a:t> </a:t>
            </a:r>
            <a:r>
              <a:rPr dirty="0" err="1"/>
              <a:t>先继承共同边当骨架，再重连片段或</a:t>
            </a:r>
            <a:r>
              <a:rPr b="1" dirty="0" err="1"/>
              <a:t>贪心补全</a:t>
            </a:r>
            <a:r>
              <a:rPr dirty="0" err="1"/>
              <a:t>成完整</a:t>
            </a:r>
            <a:r>
              <a:rPr dirty="0"/>
              <a:t> </a:t>
            </a:r>
            <a:r>
              <a:rPr dirty="0" err="1"/>
              <a:t>tour，共同边因此得到保留</a:t>
            </a:r>
            <a:r>
              <a:rPr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47084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A02F4B8-1249-661B-9768-C148F12671FE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003F88"/>
                </a:solidFill>
              </a:rPr>
              <a:t>基于边的表示是TSP更合适的遗传单位</a:t>
            </a:r>
            <a:endParaRPr sz="2800" b="1" dirty="0">
              <a:solidFill>
                <a:srgbClr val="003F88"/>
              </a:solidFill>
            </a:endParaRPr>
          </a:p>
        </p:txBody>
      </p:sp>
      <p:pic>
        <p:nvPicPr>
          <p:cNvPr id="4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41" y="1203780"/>
            <a:ext cx="3990564" cy="5551619"/>
          </a:xfrm>
          <a:prstGeom prst="rect">
            <a:avLst/>
          </a:prstGeom>
        </p:spPr>
      </p:pic>
      <p:sp>
        <p:nvSpPr>
          <p:cNvPr id="29" name="Text 14">
            <a:extLst>
              <a:ext uri="{FF2B5EF4-FFF2-40B4-BE49-F238E27FC236}">
                <a16:creationId xmlns:a16="http://schemas.microsoft.com/office/drawing/2014/main" id="{E4B687EC-00A4-CE4C-CA57-C8860C46596B}"/>
              </a:ext>
            </a:extLst>
          </p:cNvPr>
          <p:cNvSpPr>
            <a:spLocks noGrp="1"/>
          </p:cNvSpPr>
          <p:nvPr/>
        </p:nvSpPr>
        <p:spPr>
          <a:xfrm>
            <a:off x="4951247" y="4598493"/>
            <a:ext cx="7062983" cy="85875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2000" b="1">
                <a:solidFill>
                  <a:srgbClr val="004B93"/>
                </a:solidFill>
                <a:latin typeface="Times New Roman"/>
                <a:ea typeface="Times New Roman"/>
                <a:cs typeface="Times New Roman"/>
              </a:rPr>
              <a:t>TSP 交叉应优先保证边结构，再考虑如何补成合法回路。</a:t>
            </a: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27130A13-C66C-AF97-7B01-513FA5305387}"/>
              </a:ext>
            </a:extLst>
          </p:cNvPr>
          <p:cNvSpPr>
            <a:spLocks noGrp="1"/>
          </p:cNvSpPr>
          <p:nvPr/>
        </p:nvSpPr>
        <p:spPr>
          <a:xfrm>
            <a:off x="8482739" y="246871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E93991F-72B7-9D96-015E-DE687366AD4D}"/>
              </a:ext>
            </a:extLst>
          </p:cNvPr>
          <p:cNvSpPr>
            <a:spLocks noGrp="1"/>
          </p:cNvSpPr>
          <p:nvPr/>
        </p:nvSpPr>
        <p:spPr>
          <a:xfrm>
            <a:off x="5435720" y="1385567"/>
            <a:ext cx="4186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PMX child：边结构被明显打断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A1D4996-F8C2-582D-F4E7-6CD0FA087DA9}"/>
              </a:ext>
            </a:extLst>
          </p:cNvPr>
          <p:cNvSpPr>
            <a:spLocks noGrp="1"/>
          </p:cNvSpPr>
          <p:nvPr/>
        </p:nvSpPr>
        <p:spPr>
          <a:xfrm>
            <a:off x="5366781" y="1978258"/>
            <a:ext cx="4418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t>-共同边只保留 57/87，破坏 30 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070817E-BF3D-D5C3-EACF-D5217CEF15B8}"/>
              </a:ext>
            </a:extLst>
          </p:cNvPr>
          <p:cNvSpPr>
            <a:spLocks noGrp="1"/>
          </p:cNvSpPr>
          <p:nvPr/>
        </p:nvSpPr>
        <p:spPr>
          <a:xfrm>
            <a:off x="5419570" y="3126590"/>
            <a:ext cx="4186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DPX child：共同边完整保留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50F6776-CD97-556A-1041-F190C8ED5FE1}"/>
              </a:ext>
            </a:extLst>
          </p:cNvPr>
          <p:cNvSpPr>
            <a:spLocks noGrp="1"/>
          </p:cNvSpPr>
          <p:nvPr/>
        </p:nvSpPr>
        <p:spPr>
          <a:xfrm>
            <a:off x="5419570" y="3695239"/>
            <a:ext cx="4186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t>-共同边保留 87/87</a:t>
            </a: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811CF0F0-3255-FD4B-C398-694C968E3DDF}"/>
              </a:ext>
            </a:extLst>
          </p:cNvPr>
          <p:cNvSpPr>
            <a:spLocks noGrp="1"/>
          </p:cNvSpPr>
          <p:nvPr/>
        </p:nvSpPr>
        <p:spPr>
          <a:xfrm>
            <a:off x="5209926" y="1480848"/>
            <a:ext cx="171252" cy="184727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EB7F92E3-D650-3036-9D4C-0D2627B14B79}"/>
              </a:ext>
            </a:extLst>
          </p:cNvPr>
          <p:cNvSpPr>
            <a:spLocks noGrp="1"/>
          </p:cNvSpPr>
          <p:nvPr/>
        </p:nvSpPr>
        <p:spPr>
          <a:xfrm>
            <a:off x="5179395" y="3225150"/>
            <a:ext cx="171252" cy="184727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7A32460-5514-50B1-D703-079FB23A2B32}"/>
              </a:ext>
            </a:extLst>
          </p:cNvPr>
          <p:cNvSpPr>
            <a:spLocks noGrp="1"/>
          </p:cNvSpPr>
          <p:nvPr/>
        </p:nvSpPr>
        <p:spPr>
          <a:xfrm>
            <a:off x="5366781" y="2496646"/>
            <a:ext cx="5366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t>-以</a:t>
            </a:r>
            <a:r>
              <a:rPr b="1"/>
              <a:t>位置</a:t>
            </a:r>
            <a:r>
              <a:t>为单位：</a:t>
            </a:r>
            <a:r>
              <a:rPr b="1"/>
              <a:t>打散</a:t>
            </a:r>
            <a:r>
              <a:t>父代已形成的路径片段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D7285D-4034-7A80-7307-9E448FC52CCD}"/>
              </a:ext>
            </a:extLst>
          </p:cNvPr>
          <p:cNvSpPr>
            <a:spLocks noGrp="1"/>
          </p:cNvSpPr>
          <p:nvPr/>
        </p:nvSpPr>
        <p:spPr>
          <a:xfrm>
            <a:off x="5419569" y="4186196"/>
            <a:ext cx="6166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t>-以</a:t>
            </a:r>
            <a:r>
              <a:rPr b="1"/>
              <a:t>边</a:t>
            </a:r>
            <a:r>
              <a:t>为单位：只打断非共同边，再用新边重连成完整 tour</a:t>
            </a:r>
          </a:p>
        </p:txBody>
      </p:sp>
    </p:spTree>
    <p:extLst>
      <p:ext uri="{BB962C8B-B14F-4D97-AF65-F5344CB8AC3E}">
        <p14:creationId xmlns:p14="http://schemas.microsoft.com/office/powerpoint/2010/main" val="3524599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0798ACB-574B-E38B-2099-E4F0EA18E6A9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F88"/>
                </a:solidFill>
              </a:rPr>
              <a:t>局部搜索策略</a:t>
            </a:r>
          </a:p>
        </p:txBody>
      </p:sp>
      <p:pic>
        <p:nvPicPr>
          <p:cNvPr id="31" name="图片 9"/>
          <p:cNvPicPr>
            <a:picLocks noChangeAspect="1"/>
          </p:cNvPicPr>
          <p:nvPr/>
        </p:nvPicPr>
        <p:blipFill>
          <a:blip r:embed="rId4"/>
          <a:srcRect b="22606"/>
          <a:stretch/>
        </p:blipFill>
        <p:spPr>
          <a:xfrm>
            <a:off x="0" y="1417704"/>
            <a:ext cx="6042032" cy="2310786"/>
          </a:xfrm>
          <a:prstGeom prst="rect">
            <a:avLst/>
          </a:prstGeom>
        </p:spPr>
      </p:pic>
      <p:pic>
        <p:nvPicPr>
          <p:cNvPr id="32" name="图片 11"/>
          <p:cNvPicPr>
            <a:picLocks noChangeAspect="1"/>
          </p:cNvPicPr>
          <p:nvPr/>
        </p:nvPicPr>
        <p:blipFill>
          <a:blip r:embed="rId5"/>
          <a:srcRect b="22279"/>
          <a:stretch/>
        </p:blipFill>
        <p:spPr>
          <a:xfrm>
            <a:off x="6175814" y="1686565"/>
            <a:ext cx="6016186" cy="1914372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9EEB0CC2-5829-EE25-6784-F84D6C4E9C6B}"/>
              </a:ext>
            </a:extLst>
          </p:cNvPr>
          <p:cNvSpPr>
            <a:spLocks noGrp="1"/>
          </p:cNvSpPr>
          <p:nvPr/>
        </p:nvSpPr>
        <p:spPr>
          <a:xfrm>
            <a:off x="1967504" y="4174414"/>
            <a:ext cx="3032760" cy="19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000" i="1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2-opt：固定交换两条边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83A2D72-7709-86FC-8BBD-E73A962BC8D6}"/>
              </a:ext>
            </a:extLst>
          </p:cNvPr>
          <p:cNvSpPr>
            <a:spLocks noGrp="1"/>
          </p:cNvSpPr>
          <p:nvPr/>
        </p:nvSpPr>
        <p:spPr>
          <a:xfrm>
            <a:off x="7366585" y="4078039"/>
            <a:ext cx="3629364" cy="19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000" i="1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Lin-Kernighan：自适应 k-opt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E054D6DE-56F0-58C1-C16D-A682D337EE2A}"/>
              </a:ext>
            </a:extLst>
          </p:cNvPr>
          <p:cNvSpPr>
            <a:spLocks noGrp="1"/>
          </p:cNvSpPr>
          <p:nvPr/>
        </p:nvSpPr>
        <p:spPr>
          <a:xfrm>
            <a:off x="614694" y="5332890"/>
            <a:ext cx="5783774" cy="9279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t>每次</a:t>
            </a:r>
            <a:r>
              <a:rPr b="1"/>
              <a:t>固定换 2 条边</a:t>
            </a:r>
            <a:r>
              <a:t>，简单高效，擅长消除路径交叉。</a:t>
            </a: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5335834-49D7-B349-9625-E3AC3F026C53}"/>
              </a:ext>
            </a:extLst>
          </p:cNvPr>
          <p:cNvSpPr>
            <a:spLocks noGrp="1"/>
          </p:cNvSpPr>
          <p:nvPr/>
        </p:nvSpPr>
        <p:spPr>
          <a:xfrm>
            <a:off x="605451" y="4730793"/>
            <a:ext cx="5320787" cy="9279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t>删除两条边、把中间一段反转后重新接上；只在总长变短时才接受，反复执行到无法再改进。</a:t>
            </a: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C757CEC-4D76-D2A5-1067-DEF09E3B012B}"/>
              </a:ext>
            </a:extLst>
          </p:cNvPr>
          <p:cNvSpPr>
            <a:spLocks noGrp="1"/>
          </p:cNvSpPr>
          <p:nvPr/>
        </p:nvSpPr>
        <p:spPr>
          <a:xfrm>
            <a:off x="316050" y="4925356"/>
            <a:ext cx="171252" cy="184727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790AD6F8-9F3B-32B4-FADE-7DD4B4EF4810}"/>
              </a:ext>
            </a:extLst>
          </p:cNvPr>
          <p:cNvSpPr>
            <a:spLocks noGrp="1"/>
          </p:cNvSpPr>
          <p:nvPr/>
        </p:nvSpPr>
        <p:spPr>
          <a:xfrm>
            <a:off x="316050" y="5713107"/>
            <a:ext cx="171252" cy="184727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F16DCA7-496E-AA0C-4A4C-14DC416E39DD}"/>
              </a:ext>
            </a:extLst>
          </p:cNvPr>
          <p:cNvSpPr>
            <a:spLocks noGrp="1"/>
          </p:cNvSpPr>
          <p:nvPr/>
        </p:nvSpPr>
        <p:spPr>
          <a:xfrm>
            <a:off x="6488365" y="5516581"/>
            <a:ext cx="5320787" cy="9279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b="1"/>
              <a:t>用累计收益动态决定这条链走多深</a:t>
            </a:r>
            <a:r>
              <a:t>，取收益最大的那次闭合。</a:t>
            </a: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3A673E71-642B-5F8F-DDC9-561701A7958D}"/>
              </a:ext>
            </a:extLst>
          </p:cNvPr>
          <p:cNvSpPr>
            <a:spLocks noGrp="1"/>
          </p:cNvSpPr>
          <p:nvPr/>
        </p:nvSpPr>
        <p:spPr>
          <a:xfrm>
            <a:off x="6488365" y="4747891"/>
            <a:ext cx="5320787" cy="9279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t>不固定交换规模——从断开一条边开始，交替地「接一条新边、再断下一条」串成一条交换链，</a:t>
            </a: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0FCEFE75-495C-FB73-D55E-2A2F594BFF1F}"/>
              </a:ext>
            </a:extLst>
          </p:cNvPr>
          <p:cNvSpPr>
            <a:spLocks noGrp="1"/>
          </p:cNvSpPr>
          <p:nvPr/>
        </p:nvSpPr>
        <p:spPr>
          <a:xfrm>
            <a:off x="6198964" y="4942454"/>
            <a:ext cx="171252" cy="184727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7693B9F1-55CF-773B-9A74-7F01819FA651}"/>
              </a:ext>
            </a:extLst>
          </p:cNvPr>
          <p:cNvSpPr>
            <a:spLocks noGrp="1"/>
          </p:cNvSpPr>
          <p:nvPr/>
        </p:nvSpPr>
        <p:spPr>
          <a:xfrm>
            <a:off x="6198964" y="5730205"/>
            <a:ext cx="171252" cy="184727"/>
          </a:xfrm>
          <a:prstGeom prst="rect">
            <a:avLst/>
          </a:prstGeom>
          <a:solidFill>
            <a:srgbClr val="004B93"/>
          </a:solidFill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165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0798ACB-574B-E38B-2099-E4F0EA18E6A9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F88"/>
                </a:solidFill>
              </a:rPr>
              <a:t>局部搜索效果</a:t>
            </a:r>
          </a:p>
        </p:txBody>
      </p:sp>
      <p:pic>
        <p:nvPicPr>
          <p:cNvPr id="20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22" y="1203780"/>
            <a:ext cx="11359956" cy="486855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8B25E02-C3D2-EC53-71BA-A7661431125D}"/>
              </a:ext>
            </a:extLst>
          </p:cNvPr>
          <p:cNvSpPr>
            <a:spLocks noGrp="1"/>
          </p:cNvSpPr>
          <p:nvPr/>
        </p:nvSpPr>
        <p:spPr>
          <a:xfrm>
            <a:off x="5021001" y="6057279"/>
            <a:ext cx="2149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800" i="1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LK算法前后示意图</a:t>
            </a:r>
          </a:p>
        </p:txBody>
      </p:sp>
    </p:spTree>
    <p:extLst>
      <p:ext uri="{BB962C8B-B14F-4D97-AF65-F5344CB8AC3E}">
        <p14:creationId xmlns:p14="http://schemas.microsoft.com/office/powerpoint/2010/main" val="363199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2CFD72F-7A45-45B4-707F-7F51C4D5A8F6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003F88"/>
                </a:solidFill>
              </a:rPr>
              <a:t>核心代码</a:t>
            </a:r>
            <a:r>
              <a:rPr lang="zh-CN" altLang="en-US" sz="2800" b="1" dirty="0">
                <a:solidFill>
                  <a:srgbClr val="003F88"/>
                </a:solidFill>
              </a:rPr>
              <a:t>：</a:t>
            </a:r>
            <a:r>
              <a:rPr sz="2800" b="1" dirty="0">
                <a:solidFill>
                  <a:srgbClr val="003F88"/>
                </a:solidFill>
              </a:rPr>
              <a:t>Memetic </a:t>
            </a:r>
            <a:r>
              <a:rPr sz="2800" b="1" dirty="0" err="1">
                <a:solidFill>
                  <a:srgbClr val="003F88"/>
                </a:solidFill>
              </a:rPr>
              <a:t>主循环</a:t>
            </a:r>
            <a:endParaRPr sz="2800" b="1" dirty="0">
              <a:solidFill>
                <a:srgbClr val="003F88"/>
              </a:solidFill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95404" y="1017928"/>
            <a:ext cx="6401189" cy="534773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68C83DD-00FB-6BB4-B58C-73A8415F8E51}"/>
              </a:ext>
            </a:extLst>
          </p:cNvPr>
          <p:cNvSpPr>
            <a:spLocks noGrp="1"/>
          </p:cNvSpPr>
          <p:nvPr/>
        </p:nvSpPr>
        <p:spPr>
          <a:xfrm>
            <a:off x="5183046" y="6448755"/>
            <a:ext cx="2149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800" i="1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Memetic主循环</a:t>
            </a:r>
          </a:p>
        </p:txBody>
      </p:sp>
    </p:spTree>
    <p:extLst>
      <p:ext uri="{BB962C8B-B14F-4D97-AF65-F5344CB8AC3E}">
        <p14:creationId xmlns:p14="http://schemas.microsoft.com/office/powerpoint/2010/main" val="1286529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2CFD72F-7A45-45B4-707F-7F51C4D5A8F6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003F88"/>
                </a:solidFill>
              </a:rPr>
              <a:t>核心代码</a:t>
            </a:r>
            <a:r>
              <a:rPr lang="zh-CN" altLang="en-US" sz="2800" b="1" dirty="0">
                <a:solidFill>
                  <a:srgbClr val="003F88"/>
                </a:solidFill>
              </a:rPr>
              <a:t>：</a:t>
            </a:r>
            <a:r>
              <a:rPr sz="2800" b="1" dirty="0" err="1">
                <a:solidFill>
                  <a:srgbClr val="003F88"/>
                </a:solidFill>
              </a:rPr>
              <a:t>GX交叉算子与L-K搜索</a:t>
            </a:r>
            <a:endParaRPr sz="2800" b="1" dirty="0">
              <a:solidFill>
                <a:srgbClr val="003F88"/>
              </a:solidFill>
            </a:endParaRPr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42571" y="1168090"/>
            <a:ext cx="5537942" cy="5101308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1487" y="1168090"/>
            <a:ext cx="5632695" cy="51013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EC9C37-D6FF-B65D-8B06-A6FCCA917AC9}"/>
              </a:ext>
            </a:extLst>
          </p:cNvPr>
          <p:cNvSpPr>
            <a:spLocks noGrp="1"/>
          </p:cNvSpPr>
          <p:nvPr/>
        </p:nvSpPr>
        <p:spPr>
          <a:xfrm>
            <a:off x="2434953" y="6330752"/>
            <a:ext cx="2149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800" i="1" dirty="0" err="1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GX交叉算子</a:t>
            </a:r>
            <a:endParaRPr sz="1800" i="1" dirty="0">
              <a:solidFill>
                <a:srgbClr val="58617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972569-9AD3-9B93-C455-97EEE5C2D71A}"/>
              </a:ext>
            </a:extLst>
          </p:cNvPr>
          <p:cNvSpPr>
            <a:spLocks noGrp="1"/>
          </p:cNvSpPr>
          <p:nvPr/>
        </p:nvSpPr>
        <p:spPr>
          <a:xfrm>
            <a:off x="8515941" y="6330752"/>
            <a:ext cx="2149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800" i="1" dirty="0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L-</a:t>
            </a:r>
            <a:r>
              <a:rPr sz="1800" i="1" dirty="0" err="1">
                <a:solidFill>
                  <a:srgbClr val="586170"/>
                </a:solidFill>
                <a:latin typeface="Times New Roman"/>
                <a:ea typeface="Times New Roman"/>
                <a:cs typeface="Times New Roman"/>
              </a:rPr>
              <a:t>K搜索</a:t>
            </a:r>
            <a:endParaRPr sz="1800" i="1" dirty="0">
              <a:solidFill>
                <a:srgbClr val="58617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5646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BB9A55-D907-7C30-3E51-3F667C6757A4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003F88"/>
                </a:solidFill>
              </a:rPr>
              <a:t>实验结果与比较</a:t>
            </a:r>
            <a:endParaRPr sz="2800" b="1" dirty="0">
              <a:solidFill>
                <a:srgbClr val="003F88"/>
              </a:solidFill>
            </a:endParaRPr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8830" y="1333811"/>
            <a:ext cx="11174339" cy="419037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0513779-7F94-4E4C-88F3-BB6790CD3475}"/>
              </a:ext>
            </a:extLst>
          </p:cNvPr>
          <p:cNvSpPr>
            <a:spLocks noGrp="1"/>
          </p:cNvSpPr>
          <p:nvPr/>
        </p:nvSpPr>
        <p:spPr>
          <a:xfrm>
            <a:off x="1210774" y="5551208"/>
            <a:ext cx="97704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dirty="0" err="1"/>
              <a:t>没有局部搜索的</a:t>
            </a:r>
            <a:r>
              <a:rPr dirty="0"/>
              <a:t> OX + no LS </a:t>
            </a:r>
            <a:r>
              <a:rPr dirty="0" err="1"/>
              <a:t>几乎停在</a:t>
            </a:r>
            <a:r>
              <a:rPr dirty="0"/>
              <a:t> 23% </a:t>
            </a:r>
            <a:r>
              <a:rPr dirty="0" err="1"/>
              <a:t>左右</a:t>
            </a:r>
            <a:r>
              <a:rPr dirty="0"/>
              <a:t>。</a:t>
            </a:r>
          </a:p>
          <a:p>
            <a:r>
              <a:rPr dirty="0" err="1"/>
              <a:t>加入</a:t>
            </a:r>
            <a:r>
              <a:rPr dirty="0"/>
              <a:t> 2-opt </a:t>
            </a:r>
            <a:r>
              <a:rPr dirty="0" err="1"/>
              <a:t>后，gap</a:t>
            </a:r>
            <a:r>
              <a:rPr dirty="0"/>
              <a:t> </a:t>
            </a:r>
            <a:r>
              <a:rPr dirty="0" err="1"/>
              <a:t>直接降到</a:t>
            </a:r>
            <a:r>
              <a:rPr dirty="0"/>
              <a:t> 4-5% </a:t>
            </a:r>
            <a:r>
              <a:rPr dirty="0" err="1"/>
              <a:t>区间；换成</a:t>
            </a:r>
            <a:r>
              <a:rPr dirty="0"/>
              <a:t> L-K </a:t>
            </a:r>
            <a:r>
              <a:rPr dirty="0" err="1"/>
              <a:t>后进一步进入</a:t>
            </a:r>
            <a:r>
              <a:rPr dirty="0"/>
              <a:t> 3-4% </a:t>
            </a:r>
            <a:r>
              <a:rPr dirty="0" err="1"/>
              <a:t>区间</a:t>
            </a:r>
            <a:r>
              <a:rPr dirty="0"/>
              <a:t>。</a:t>
            </a:r>
          </a:p>
          <a:p>
            <a:r>
              <a:rPr dirty="0" err="1"/>
              <a:t>红色的</a:t>
            </a:r>
            <a:r>
              <a:rPr dirty="0"/>
              <a:t> GX + L-K </a:t>
            </a:r>
            <a:r>
              <a:rPr dirty="0" err="1"/>
              <a:t>在整个过程中基本保持最低，说明它的收敛过程也更有效</a:t>
            </a:r>
            <a:r>
              <a:rPr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8805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BB9A55-D907-7C30-3E51-3F667C6757A4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F88"/>
                </a:solidFill>
              </a:rPr>
              <a:t>实验结果与比较</a:t>
            </a:r>
          </a:p>
        </p:txBody>
      </p:sp>
      <p:pic>
        <p:nvPicPr>
          <p:cNvPr id="15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7523" y="1277060"/>
            <a:ext cx="11593752" cy="430387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776B4C2-20C4-4504-99CB-579B47586875}"/>
              </a:ext>
            </a:extLst>
          </p:cNvPr>
          <p:cNvSpPr>
            <a:spLocks noGrp="1"/>
          </p:cNvSpPr>
          <p:nvPr/>
        </p:nvSpPr>
        <p:spPr>
          <a:xfrm>
            <a:off x="913235" y="5551208"/>
            <a:ext cx="103655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dirty="0"/>
              <a:t>L-K </a:t>
            </a:r>
            <a:r>
              <a:rPr dirty="0" err="1"/>
              <a:t>组合整体优于</a:t>
            </a:r>
            <a:r>
              <a:rPr dirty="0"/>
              <a:t> 2-opt </a:t>
            </a:r>
            <a:r>
              <a:rPr dirty="0" err="1"/>
              <a:t>组合，说明强局部搜索是主要提升来源</a:t>
            </a:r>
            <a:r>
              <a:rPr dirty="0"/>
              <a:t>。</a:t>
            </a:r>
          </a:p>
          <a:p>
            <a:r>
              <a:rPr lang="zh-CN" altLang="en-US" dirty="0"/>
              <a:t>例如，</a:t>
            </a:r>
            <a:r>
              <a:rPr dirty="0"/>
              <a:t>DPX + 2-opt </a:t>
            </a:r>
            <a:r>
              <a:rPr dirty="0" err="1"/>
              <a:t>不突出，但</a:t>
            </a:r>
            <a:r>
              <a:rPr dirty="0"/>
              <a:t> DPX + L-K </a:t>
            </a:r>
            <a:r>
              <a:rPr dirty="0" err="1"/>
              <a:t>明显改善，说明</a:t>
            </a:r>
            <a:r>
              <a:rPr dirty="0"/>
              <a:t> DPX </a:t>
            </a:r>
            <a:r>
              <a:rPr dirty="0" err="1"/>
              <a:t>引入的新边扰动需要来</a:t>
            </a:r>
            <a:r>
              <a:rPr dirty="0"/>
              <a:t> L-K </a:t>
            </a:r>
            <a:r>
              <a:rPr dirty="0" err="1"/>
              <a:t>消化</a:t>
            </a:r>
            <a:r>
              <a:rPr dirty="0"/>
              <a:t>。</a:t>
            </a:r>
          </a:p>
          <a:p>
            <a:r>
              <a:rPr dirty="0" err="1"/>
              <a:t>以及，在强局部搜索下，GX</a:t>
            </a:r>
            <a:r>
              <a:rPr dirty="0"/>
              <a:t> </a:t>
            </a:r>
            <a:r>
              <a:rPr dirty="0" err="1"/>
              <a:t>的边结构优势仍然存在</a:t>
            </a:r>
            <a:r>
              <a:rPr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0617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1087" y="398850"/>
            <a:ext cx="19800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F88"/>
                </a:solidFill>
                <a:latin typeface="Microsoft YaHei"/>
              </a:defRPr>
            </a:pPr>
            <a:r>
              <a:rPr dirty="0" err="1"/>
              <a:t>多地图</a:t>
            </a:r>
            <a:r>
              <a:rPr lang="zh-CN" altLang="en-US" dirty="0"/>
              <a:t>测试</a:t>
            </a:r>
            <a:endParaRPr sz="2800" b="1" dirty="0">
              <a:solidFill>
                <a:srgbClr val="003F88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9060" y="5474264"/>
            <a:ext cx="89338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2000" dirty="0"/>
              <a:t>在四组不同地图中测试，</a:t>
            </a:r>
            <a:r>
              <a:rPr sz="2000" dirty="0"/>
              <a:t>GX + L-K 在 eil101/d493 </a:t>
            </a:r>
            <a:r>
              <a:rPr sz="2000" dirty="0" err="1"/>
              <a:t>最优，在</a:t>
            </a:r>
            <a:r>
              <a:rPr sz="2000" dirty="0"/>
              <a:t> eil51/ch130 </a:t>
            </a:r>
            <a:r>
              <a:rPr lang="zh-CN" altLang="en-US" sz="2000" dirty="0"/>
              <a:t>为次优，也与最优解接近。综合来看表现稳定，可以认为是全局最优解</a:t>
            </a:r>
            <a:r>
              <a:rPr lang="zh-CN" altLang="en-US" dirty="0"/>
              <a:t>。</a:t>
            </a:r>
            <a:endParaRPr dirty="0"/>
          </a:p>
        </p:txBody>
      </p:sp>
      <p:pic>
        <p:nvPicPr>
          <p:cNvPr id="6" name="Picture 5" descr="report_multi_instance_gx_lk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119" y="1013572"/>
            <a:ext cx="9757762" cy="44606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1087" y="398850"/>
            <a:ext cx="22236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3F88"/>
                </a:solidFill>
                <a:latin typeface="Microsoft YaHei"/>
              </a:rPr>
              <a:t>调整</a:t>
            </a:r>
            <a:r>
              <a:rPr lang="en-US" altLang="zh-CN" sz="2800" b="1" dirty="0">
                <a:solidFill>
                  <a:srgbClr val="003F88"/>
                </a:solidFill>
                <a:latin typeface="Microsoft YaHei"/>
              </a:rPr>
              <a:t>L-K</a:t>
            </a:r>
            <a:r>
              <a:rPr lang="zh-CN" altLang="en-US" sz="2800" b="1" dirty="0">
                <a:solidFill>
                  <a:srgbClr val="003F88"/>
                </a:solidFill>
                <a:latin typeface="Microsoft YaHei"/>
              </a:rPr>
              <a:t>强度</a:t>
            </a:r>
            <a:endParaRPr sz="2800" b="1" dirty="0">
              <a:solidFill>
                <a:srgbClr val="003F88"/>
              </a:solidFill>
              <a:latin typeface="Microsoft YaHei"/>
            </a:endParaRPr>
          </a:p>
        </p:txBody>
      </p:sp>
      <p:pic>
        <p:nvPicPr>
          <p:cNvPr id="4" name="Picture 3" descr="report_lk_streng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35" y="1073167"/>
            <a:ext cx="6181818" cy="42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3235" y="5551208"/>
            <a:ext cx="1036553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dirty="0"/>
              <a:t>通过改变预修复次数、允许的有效改进次数、边替换深度、近邻候选边数、保留分支数来改变</a:t>
            </a:r>
            <a:r>
              <a:rPr lang="en-US" altLang="zh-CN" dirty="0"/>
              <a:t>L-K</a:t>
            </a:r>
            <a:r>
              <a:rPr lang="zh-CN" altLang="en-US" dirty="0"/>
              <a:t>强度。</a:t>
            </a:r>
            <a:endParaRPr lang="en-US" altLang="zh-CN" dirty="0"/>
          </a:p>
          <a:p>
            <a:r>
              <a:rPr lang="zh-CN" altLang="en-US" dirty="0"/>
              <a:t>可以看到，</a:t>
            </a:r>
            <a:r>
              <a:rPr dirty="0" err="1"/>
              <a:t>继续增强</a:t>
            </a:r>
            <a:r>
              <a:rPr lang="en-US" dirty="0" err="1"/>
              <a:t>L</a:t>
            </a:r>
            <a:r>
              <a:rPr lang="en-US" dirty="0"/>
              <a:t>-K</a:t>
            </a:r>
            <a:r>
              <a:rPr lang="zh-CN" altLang="en-US" dirty="0"/>
              <a:t>不会单调地使收益增加。</a:t>
            </a:r>
            <a:r>
              <a:rPr dirty="0" err="1"/>
              <a:t>说明</a:t>
            </a:r>
            <a:r>
              <a:rPr dirty="0"/>
              <a:t> L-K </a:t>
            </a:r>
            <a:r>
              <a:rPr dirty="0" err="1"/>
              <a:t>参数与交叉算子、预算之间存在配比关系</a:t>
            </a:r>
            <a:r>
              <a:rPr dirty="0"/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EE06E4-C8F0-4018-97F0-343E5A569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548" y="2994207"/>
            <a:ext cx="4226844" cy="8695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1087" y="398850"/>
            <a:ext cx="36391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3F88"/>
                </a:solidFill>
                <a:latin typeface="Microsoft YaHei"/>
              </a:rPr>
              <a:t>改变</a:t>
            </a:r>
            <a:r>
              <a:rPr sz="2800" b="1" dirty="0" err="1">
                <a:solidFill>
                  <a:srgbClr val="003F88"/>
                </a:solidFill>
                <a:latin typeface="Microsoft YaHei"/>
              </a:rPr>
              <a:t>种群规模与</a:t>
            </a:r>
            <a:r>
              <a:rPr sz="2800" b="1" dirty="0">
                <a:solidFill>
                  <a:srgbClr val="003F88"/>
                </a:solidFill>
                <a:latin typeface="Microsoft YaHei"/>
              </a:rPr>
              <a:t> seed</a:t>
            </a:r>
          </a:p>
        </p:txBody>
      </p:sp>
      <p:pic>
        <p:nvPicPr>
          <p:cNvPr id="4" name="Picture 3" descr="report_population_s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00" y="1592661"/>
            <a:ext cx="5350000" cy="3414678"/>
          </a:xfrm>
          <a:prstGeom prst="rect">
            <a:avLst/>
          </a:prstGeom>
        </p:spPr>
      </p:pic>
      <p:pic>
        <p:nvPicPr>
          <p:cNvPr id="5" name="Picture 4" descr="report_multiseed_robust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000" y="1592661"/>
            <a:ext cx="5350000" cy="34146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3234" y="5551208"/>
            <a:ext cx="10291297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 lang="zh-CN" altLang="en-US" dirty="0"/>
              <a:t>种群变大时，</a:t>
            </a:r>
            <a:r>
              <a:rPr dirty="0"/>
              <a:t>GX+2-op</a:t>
            </a:r>
            <a:r>
              <a:rPr lang="en-US" dirty="0"/>
              <a:t>t</a:t>
            </a:r>
            <a:r>
              <a:rPr lang="zh-CN" altLang="en-US" dirty="0"/>
              <a:t> 表现反而变差。这是因为种群规模变大意味着每一代保留和产生的候选 </a:t>
            </a:r>
            <a:r>
              <a:rPr lang="en-US" altLang="zh-CN" dirty="0"/>
              <a:t>tour </a:t>
            </a:r>
            <a:r>
              <a:rPr lang="zh-CN" altLang="en-US" dirty="0"/>
              <a:t>更多；</a:t>
            </a:r>
            <a:r>
              <a:rPr dirty="0"/>
              <a:t> </a:t>
            </a:r>
            <a:r>
              <a:rPr lang="zh-CN" altLang="en-US" dirty="0"/>
              <a:t>但是 </a:t>
            </a:r>
            <a:r>
              <a:rPr dirty="0"/>
              <a:t>2-opt </a:t>
            </a:r>
            <a:r>
              <a:rPr lang="zh-CN" altLang="en-US" dirty="0"/>
              <a:t>局部搜索弱，</a:t>
            </a:r>
            <a:r>
              <a:rPr dirty="0" err="1"/>
              <a:t>修复浅</a:t>
            </a:r>
            <a:r>
              <a:rPr dirty="0"/>
              <a:t>，</a:t>
            </a:r>
            <a:r>
              <a:rPr lang="zh-CN" altLang="en-US" dirty="0"/>
              <a:t>多样性的优势无法发挥出来，只是增加了计算量</a:t>
            </a:r>
            <a:r>
              <a:rPr dirty="0"/>
              <a:t>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rPr dirty="0"/>
              <a:t>DPX</a:t>
            </a:r>
            <a:r>
              <a:rPr lang="zh-CN" altLang="en-US" dirty="0"/>
              <a:t>的策略是保留父代共同边</a:t>
            </a:r>
            <a:r>
              <a:rPr lang="en-US" altLang="zh-CN" dirty="0"/>
              <a:t>——</a:t>
            </a:r>
            <a:r>
              <a:rPr lang="zh-CN" altLang="en-US" dirty="0"/>
              <a:t>补充</a:t>
            </a:r>
            <a:r>
              <a:rPr lang="en-US" altLang="zh-CN" dirty="0"/>
              <a:t>foreign edges</a:t>
            </a:r>
            <a:r>
              <a:rPr lang="zh-CN" altLang="en-US" dirty="0"/>
              <a:t>，会引入</a:t>
            </a:r>
            <a:r>
              <a:rPr dirty="0" err="1"/>
              <a:t>更多</a:t>
            </a:r>
            <a:r>
              <a:rPr lang="zh-CN" altLang="en-US" dirty="0"/>
              <a:t>新边</a:t>
            </a:r>
            <a:r>
              <a:rPr dirty="0"/>
              <a:t>，</a:t>
            </a:r>
            <a:r>
              <a:rPr lang="zh-CN" altLang="en-US" dirty="0"/>
              <a:t>整体随机性很强。如果</a:t>
            </a:r>
            <a:r>
              <a:rPr lang="en-US" altLang="zh-CN" dirty="0"/>
              <a:t>seed</a:t>
            </a:r>
            <a:r>
              <a:rPr lang="zh-CN" altLang="en-US" dirty="0"/>
              <a:t>较好、父代共同边质量较高则会较好地跳出父代结构，产生有价值的新连接；反之会产生很多无用功。从图中也可以看出</a:t>
            </a:r>
            <a:r>
              <a:rPr lang="en-US" altLang="zh-CN" dirty="0"/>
              <a:t>DPX</a:t>
            </a:r>
            <a:r>
              <a:rPr lang="zh-CN" altLang="en-US" dirty="0"/>
              <a:t>的波动性最大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9341DD1-7464-5C61-D276-BC34720D3AA7}"/>
              </a:ext>
            </a:extLst>
          </p:cNvPr>
          <p:cNvSpPr>
            <a:spLocks noGrp="1"/>
          </p:cNvSpPr>
          <p:nvPr/>
        </p:nvSpPr>
        <p:spPr>
          <a:xfrm>
            <a:off x="1021087" y="398850"/>
            <a:ext cx="881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003F88"/>
                </a:solidFill>
              </a:rPr>
              <a:t>结论</a:t>
            </a:r>
            <a:endParaRPr sz="2800" b="1" dirty="0">
              <a:solidFill>
                <a:srgbClr val="003F88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4795F9-DDD6-DE3F-C5C6-E7DBA5B3C00F}"/>
              </a:ext>
            </a:extLst>
          </p:cNvPr>
          <p:cNvSpPr>
            <a:spLocks noGrp="1"/>
          </p:cNvSpPr>
          <p:nvPr/>
        </p:nvSpPr>
        <p:spPr>
          <a:xfrm>
            <a:off x="575270" y="2174400"/>
            <a:ext cx="11041459" cy="211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800" b="1" dirty="0"/>
              <a:t>TSP </a:t>
            </a:r>
            <a:r>
              <a:rPr lang="zh-CN" altLang="en-US" sz="2800" b="1" dirty="0"/>
              <a:t>的主要</a:t>
            </a:r>
            <a:r>
              <a:rPr sz="2800" b="1" dirty="0" err="1"/>
              <a:t>有效遗传信息是边结构</a:t>
            </a:r>
            <a:r>
              <a:rPr lang="zh-CN" altLang="en-US" sz="2800" b="1" dirty="0"/>
              <a:t>而非城市排列位置</a:t>
            </a:r>
            <a:r>
              <a:rPr sz="2800" b="1" dirty="0"/>
              <a:t>。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800" b="1" dirty="0"/>
              <a:t>DPX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需要配合足够强的 </a:t>
            </a:r>
            <a:r>
              <a:rPr lang="en-US" altLang="zh-CN" sz="2800" b="1" dirty="0"/>
              <a:t>L-K</a:t>
            </a:r>
            <a:r>
              <a:rPr sz="2800" b="1" dirty="0"/>
              <a:t>，</a:t>
            </a:r>
            <a:r>
              <a:rPr lang="en-US" sz="2800" b="1" dirty="0"/>
              <a:t>GX</a:t>
            </a:r>
            <a:r>
              <a:rPr lang="zh-CN" altLang="en-US" sz="2800" b="1" dirty="0"/>
              <a:t>更偏向于稳定继承</a:t>
            </a:r>
            <a:r>
              <a:rPr sz="2800" b="1" dirty="0"/>
              <a:t>。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800" b="1" dirty="0"/>
              <a:t>L-K </a:t>
            </a:r>
            <a:r>
              <a:rPr lang="zh-CN" altLang="en-US" sz="2800" b="1" dirty="0"/>
              <a:t>强度需要与交叉算子、种群规模和时间预算匹配。</a:t>
            </a:r>
            <a:endParaRPr sz="2800" b="1" dirty="0"/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2800" b="1" dirty="0" err="1"/>
              <a:t>MA的优势来自结构继承、适度探索、局部搜索修复三者的协同</a:t>
            </a:r>
            <a:r>
              <a:rPr sz="2800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76980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C65BAE8-517A-BC98-76CE-37CBFDEA22A4}"/>
              </a:ext>
            </a:extLst>
          </p:cNvPr>
          <p:cNvSpPr>
            <a:spLocks noGrp="1"/>
          </p:cNvSpPr>
          <p:nvPr/>
        </p:nvSpPr>
        <p:spPr>
          <a:xfrm>
            <a:off x="531018" y="392224"/>
            <a:ext cx="34566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F88"/>
                </a:solidFill>
                <a:latin typeface="微软雅黑(正文)"/>
                <a:ea typeface="微软雅黑(正文)"/>
                <a:cs typeface="微软雅黑(正文)"/>
              </a:rPr>
              <a:t>小组分工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2C8A2D44-B642-425D-AB39-751C1AC57AAE}"/>
              </a:ext>
            </a:extLst>
          </p:cNvPr>
          <p:cNvSpPr>
            <a:spLocks noGrp="1"/>
          </p:cNvSpPr>
          <p:nvPr/>
        </p:nvSpPr>
        <p:spPr>
          <a:xfrm>
            <a:off x="531018" y="1080052"/>
            <a:ext cx="10645782" cy="0"/>
          </a:xfrm>
          <a:prstGeom prst="line">
            <a:avLst/>
          </a:prstGeom>
          <a:ln w="28575">
            <a:solidFill>
              <a:srgbClr val="003F88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02" name="Rectangle 4">
            <a:extLst>
              <a:ext uri="{FF2B5EF4-FFF2-40B4-BE49-F238E27FC236}">
                <a16:creationId xmlns:a16="http://schemas.microsoft.com/office/drawing/2014/main" id="{D697AA39-6405-ADA5-F02E-A9CB07B1BB7F}"/>
              </a:ext>
            </a:extLst>
          </p:cNvPr>
          <p:cNvSpPr>
            <a:spLocks noGrp="1"/>
          </p:cNvSpPr>
          <p:nvPr/>
        </p:nvSpPr>
        <p:spPr>
          <a:xfrm>
            <a:off x="586740" y="1453896"/>
            <a:ext cx="3063240" cy="658368"/>
          </a:xfrm>
          <a:prstGeom prst="rect">
            <a:avLst/>
          </a:prstGeom>
          <a:solidFill>
            <a:srgbClr val="5070B0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03" name="TextBox 5">
            <a:extLst>
              <a:ext uri="{FF2B5EF4-FFF2-40B4-BE49-F238E27FC236}">
                <a16:creationId xmlns:a16="http://schemas.microsoft.com/office/drawing/2014/main" id="{62D8B86A-2E40-6386-35E2-450B2673620C}"/>
              </a:ext>
            </a:extLst>
          </p:cNvPr>
          <p:cNvSpPr>
            <a:spLocks noGrp="1"/>
          </p:cNvSpPr>
          <p:nvPr/>
        </p:nvSpPr>
        <p:spPr>
          <a:xfrm>
            <a:off x="586740" y="1626114"/>
            <a:ext cx="306324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(正文)"/>
                <a:ea typeface="微软雅黑(正文)"/>
                <a:cs typeface="微软雅黑(正文)"/>
              </a:rPr>
              <a:t>姓名</a:t>
            </a: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D70599F5-F19A-758A-AA7B-6E584DB04A5B}"/>
              </a:ext>
            </a:extLst>
          </p:cNvPr>
          <p:cNvSpPr>
            <a:spLocks noGrp="1"/>
          </p:cNvSpPr>
          <p:nvPr/>
        </p:nvSpPr>
        <p:spPr>
          <a:xfrm>
            <a:off x="3649980" y="1453896"/>
            <a:ext cx="5074920" cy="658368"/>
          </a:xfrm>
          <a:prstGeom prst="rect">
            <a:avLst/>
          </a:prstGeom>
          <a:solidFill>
            <a:srgbClr val="5070B0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05" name="TextBox 7">
            <a:extLst>
              <a:ext uri="{FF2B5EF4-FFF2-40B4-BE49-F238E27FC236}">
                <a16:creationId xmlns:a16="http://schemas.microsoft.com/office/drawing/2014/main" id="{18380395-231E-B225-AE4E-AB4D8663E109}"/>
              </a:ext>
            </a:extLst>
          </p:cNvPr>
          <p:cNvSpPr>
            <a:spLocks noGrp="1"/>
          </p:cNvSpPr>
          <p:nvPr/>
        </p:nvSpPr>
        <p:spPr>
          <a:xfrm>
            <a:off x="3649980" y="1626114"/>
            <a:ext cx="507492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(正文)"/>
                <a:ea typeface="微软雅黑(正文)"/>
                <a:cs typeface="微软雅黑(正文)"/>
              </a:rPr>
              <a:t>工作内容</a:t>
            </a:r>
          </a:p>
        </p:txBody>
      </p:sp>
      <p:sp>
        <p:nvSpPr>
          <p:cNvPr id="106" name="Rectangle 8">
            <a:extLst>
              <a:ext uri="{FF2B5EF4-FFF2-40B4-BE49-F238E27FC236}">
                <a16:creationId xmlns:a16="http://schemas.microsoft.com/office/drawing/2014/main" id="{042EB57C-6A64-277E-BD23-BF0FDF94AF67}"/>
              </a:ext>
            </a:extLst>
          </p:cNvPr>
          <p:cNvSpPr>
            <a:spLocks noGrp="1"/>
          </p:cNvSpPr>
          <p:nvPr/>
        </p:nvSpPr>
        <p:spPr>
          <a:xfrm>
            <a:off x="8724900" y="1453896"/>
            <a:ext cx="2880360" cy="658368"/>
          </a:xfrm>
          <a:prstGeom prst="rect">
            <a:avLst/>
          </a:prstGeom>
          <a:solidFill>
            <a:srgbClr val="5070B0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07" name="TextBox 9">
            <a:extLst>
              <a:ext uri="{FF2B5EF4-FFF2-40B4-BE49-F238E27FC236}">
                <a16:creationId xmlns:a16="http://schemas.microsoft.com/office/drawing/2014/main" id="{C2DFCB5B-E116-1AA4-898C-C7253272F3D1}"/>
              </a:ext>
            </a:extLst>
          </p:cNvPr>
          <p:cNvSpPr>
            <a:spLocks noGrp="1"/>
          </p:cNvSpPr>
          <p:nvPr/>
        </p:nvSpPr>
        <p:spPr>
          <a:xfrm>
            <a:off x="8724900" y="1626114"/>
            <a:ext cx="288036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(正文)"/>
                <a:ea typeface="微软雅黑(正文)"/>
                <a:cs typeface="微软雅黑(正文)"/>
              </a:rPr>
              <a:t>贡献比</a:t>
            </a:r>
          </a:p>
        </p:txBody>
      </p:sp>
      <p:sp>
        <p:nvSpPr>
          <p:cNvPr id="108" name="Rectangle 10">
            <a:extLst>
              <a:ext uri="{FF2B5EF4-FFF2-40B4-BE49-F238E27FC236}">
                <a16:creationId xmlns:a16="http://schemas.microsoft.com/office/drawing/2014/main" id="{A7FB123E-42D0-AC5D-BA34-B3FA3DF86EA4}"/>
              </a:ext>
            </a:extLst>
          </p:cNvPr>
          <p:cNvSpPr>
            <a:spLocks noGrp="1"/>
          </p:cNvSpPr>
          <p:nvPr/>
        </p:nvSpPr>
        <p:spPr>
          <a:xfrm>
            <a:off x="586740" y="2112264"/>
            <a:ext cx="3063240" cy="1097280"/>
          </a:xfrm>
          <a:prstGeom prst="rect">
            <a:avLst/>
          </a:prstGeom>
          <a:solidFill>
            <a:srgbClr val="DEE1EF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09" name="TextBox 11">
            <a:extLst>
              <a:ext uri="{FF2B5EF4-FFF2-40B4-BE49-F238E27FC236}">
                <a16:creationId xmlns:a16="http://schemas.microsoft.com/office/drawing/2014/main" id="{3B8015F9-809E-7815-4A9D-C1594ADC56A7}"/>
              </a:ext>
            </a:extLst>
          </p:cNvPr>
          <p:cNvSpPr>
            <a:spLocks noGrp="1"/>
          </p:cNvSpPr>
          <p:nvPr/>
        </p:nvSpPr>
        <p:spPr>
          <a:xfrm>
            <a:off x="586740" y="2503938"/>
            <a:ext cx="306324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郑智瑄</a:t>
            </a:r>
          </a:p>
        </p:txBody>
      </p:sp>
      <p:sp>
        <p:nvSpPr>
          <p:cNvPr id="110" name="Rectangle 12">
            <a:extLst>
              <a:ext uri="{FF2B5EF4-FFF2-40B4-BE49-F238E27FC236}">
                <a16:creationId xmlns:a16="http://schemas.microsoft.com/office/drawing/2014/main" id="{7A9D39A1-BE9F-A5D6-D500-1BABC719094F}"/>
              </a:ext>
            </a:extLst>
          </p:cNvPr>
          <p:cNvSpPr>
            <a:spLocks noGrp="1"/>
          </p:cNvSpPr>
          <p:nvPr/>
        </p:nvSpPr>
        <p:spPr>
          <a:xfrm>
            <a:off x="3649980" y="2112264"/>
            <a:ext cx="5074920" cy="1097280"/>
          </a:xfrm>
          <a:prstGeom prst="rect">
            <a:avLst/>
          </a:prstGeom>
          <a:solidFill>
            <a:srgbClr val="DEE1EF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11" name="TextBox 13">
            <a:extLst>
              <a:ext uri="{FF2B5EF4-FFF2-40B4-BE49-F238E27FC236}">
                <a16:creationId xmlns:a16="http://schemas.microsoft.com/office/drawing/2014/main" id="{9CBEA9FB-36A3-BCB8-A474-C9B000F67BA8}"/>
              </a:ext>
            </a:extLst>
          </p:cNvPr>
          <p:cNvSpPr>
            <a:spLocks noGrp="1"/>
          </p:cNvSpPr>
          <p:nvPr/>
        </p:nvSpPr>
        <p:spPr>
          <a:xfrm>
            <a:off x="3649980" y="2250022"/>
            <a:ext cx="5074920" cy="821763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1、</a:t>
            </a:r>
            <a:r>
              <a:rPr sz="1600"/>
              <a:t>汇报主题与整体逻辑设计；</a:t>
            </a:r>
            <a:br/>
            <a:r>
              <a:rPr sz="1700" b="0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2、</a:t>
            </a:r>
            <a:r>
              <a:rPr sz="1600"/>
              <a:t>交叉算子与局部搜索代码实现</a:t>
            </a:r>
            <a:br/>
            <a:r>
              <a:rPr sz="1600"/>
              <a:t>3、PPT 图表制作</a:t>
            </a:r>
          </a:p>
        </p:txBody>
      </p:sp>
      <p:sp>
        <p:nvSpPr>
          <p:cNvPr id="112" name="Rectangle 14">
            <a:extLst>
              <a:ext uri="{FF2B5EF4-FFF2-40B4-BE49-F238E27FC236}">
                <a16:creationId xmlns:a16="http://schemas.microsoft.com/office/drawing/2014/main" id="{54537C72-712E-FAE2-AC5B-28B57DEF046A}"/>
              </a:ext>
            </a:extLst>
          </p:cNvPr>
          <p:cNvSpPr>
            <a:spLocks noGrp="1"/>
          </p:cNvSpPr>
          <p:nvPr/>
        </p:nvSpPr>
        <p:spPr>
          <a:xfrm>
            <a:off x="8724900" y="2112264"/>
            <a:ext cx="2880360" cy="1097280"/>
          </a:xfrm>
          <a:prstGeom prst="rect">
            <a:avLst/>
          </a:prstGeom>
          <a:solidFill>
            <a:srgbClr val="DEE1EF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13" name="TextBox 15">
            <a:extLst>
              <a:ext uri="{FF2B5EF4-FFF2-40B4-BE49-F238E27FC236}">
                <a16:creationId xmlns:a16="http://schemas.microsoft.com/office/drawing/2014/main" id="{99F91615-7230-7550-E336-BB6724D3F185}"/>
              </a:ext>
            </a:extLst>
          </p:cNvPr>
          <p:cNvSpPr>
            <a:spLocks noGrp="1"/>
          </p:cNvSpPr>
          <p:nvPr/>
        </p:nvSpPr>
        <p:spPr>
          <a:xfrm>
            <a:off x="8724900" y="2503938"/>
            <a:ext cx="288036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33.3%</a:t>
            </a:r>
          </a:p>
        </p:txBody>
      </p:sp>
      <p:sp>
        <p:nvSpPr>
          <p:cNvPr id="114" name="Rectangle 16">
            <a:extLst>
              <a:ext uri="{FF2B5EF4-FFF2-40B4-BE49-F238E27FC236}">
                <a16:creationId xmlns:a16="http://schemas.microsoft.com/office/drawing/2014/main" id="{5007C644-3A6B-C3BE-6F61-0444B73130EE}"/>
              </a:ext>
            </a:extLst>
          </p:cNvPr>
          <p:cNvSpPr>
            <a:spLocks noGrp="1"/>
          </p:cNvSpPr>
          <p:nvPr/>
        </p:nvSpPr>
        <p:spPr>
          <a:xfrm>
            <a:off x="586740" y="3209544"/>
            <a:ext cx="3063240" cy="1097280"/>
          </a:xfrm>
          <a:prstGeom prst="rect">
            <a:avLst/>
          </a:prstGeom>
          <a:solidFill>
            <a:srgbClr val="CCD1E2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15" name="TextBox 17">
            <a:extLst>
              <a:ext uri="{FF2B5EF4-FFF2-40B4-BE49-F238E27FC236}">
                <a16:creationId xmlns:a16="http://schemas.microsoft.com/office/drawing/2014/main" id="{B8026D67-6100-4D91-DC06-D8AD8AD45F8E}"/>
              </a:ext>
            </a:extLst>
          </p:cNvPr>
          <p:cNvSpPr>
            <a:spLocks noGrp="1"/>
          </p:cNvSpPr>
          <p:nvPr/>
        </p:nvSpPr>
        <p:spPr>
          <a:xfrm>
            <a:off x="586740" y="3601218"/>
            <a:ext cx="306324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李维扬</a:t>
            </a:r>
          </a:p>
        </p:txBody>
      </p:sp>
      <p:sp>
        <p:nvSpPr>
          <p:cNvPr id="116" name="Rectangle 18">
            <a:extLst>
              <a:ext uri="{FF2B5EF4-FFF2-40B4-BE49-F238E27FC236}">
                <a16:creationId xmlns:a16="http://schemas.microsoft.com/office/drawing/2014/main" id="{573BA822-BC63-3530-FCAD-38AC4B5EBCA7}"/>
              </a:ext>
            </a:extLst>
          </p:cNvPr>
          <p:cNvSpPr>
            <a:spLocks noGrp="1"/>
          </p:cNvSpPr>
          <p:nvPr/>
        </p:nvSpPr>
        <p:spPr>
          <a:xfrm>
            <a:off x="3649980" y="3209544"/>
            <a:ext cx="5074920" cy="1097280"/>
          </a:xfrm>
          <a:prstGeom prst="rect">
            <a:avLst/>
          </a:prstGeom>
          <a:solidFill>
            <a:srgbClr val="CCD1E2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17" name="TextBox 19">
            <a:extLst>
              <a:ext uri="{FF2B5EF4-FFF2-40B4-BE49-F238E27FC236}">
                <a16:creationId xmlns:a16="http://schemas.microsoft.com/office/drawing/2014/main" id="{D9883FEB-C01A-B1F7-F339-DC56AA6FEF4D}"/>
              </a:ext>
            </a:extLst>
          </p:cNvPr>
          <p:cNvSpPr>
            <a:spLocks noGrp="1"/>
          </p:cNvSpPr>
          <p:nvPr/>
        </p:nvSpPr>
        <p:spPr>
          <a:xfrm>
            <a:off x="3649980" y="3485801"/>
            <a:ext cx="5074920" cy="544765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1、TSP 与 Memetic Algorithm 资料整理；</a:t>
            </a:r>
            <a:br/>
            <a:r>
              <a:rPr sz="1600"/>
              <a:t>2、PPT 版式优化；</a:t>
            </a:r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7A8097D3-E1DF-36BE-287E-7F67D49C0CD9}"/>
              </a:ext>
            </a:extLst>
          </p:cNvPr>
          <p:cNvSpPr>
            <a:spLocks noGrp="1"/>
          </p:cNvSpPr>
          <p:nvPr/>
        </p:nvSpPr>
        <p:spPr>
          <a:xfrm>
            <a:off x="8724900" y="3209544"/>
            <a:ext cx="2880360" cy="1097280"/>
          </a:xfrm>
          <a:prstGeom prst="rect">
            <a:avLst/>
          </a:prstGeom>
          <a:solidFill>
            <a:srgbClr val="CCD1E2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19" name="TextBox 21">
            <a:extLst>
              <a:ext uri="{FF2B5EF4-FFF2-40B4-BE49-F238E27FC236}">
                <a16:creationId xmlns:a16="http://schemas.microsoft.com/office/drawing/2014/main" id="{2BF1E026-0524-F4AC-56C2-DDF440EB0767}"/>
              </a:ext>
            </a:extLst>
          </p:cNvPr>
          <p:cNvSpPr>
            <a:spLocks noGrp="1"/>
          </p:cNvSpPr>
          <p:nvPr/>
        </p:nvSpPr>
        <p:spPr>
          <a:xfrm>
            <a:off x="8724900" y="3601218"/>
            <a:ext cx="288036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33.3%</a:t>
            </a:r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B5C8C681-983C-52E1-3E82-EDD032B99AF3}"/>
              </a:ext>
            </a:extLst>
          </p:cNvPr>
          <p:cNvSpPr>
            <a:spLocks noGrp="1"/>
          </p:cNvSpPr>
          <p:nvPr/>
        </p:nvSpPr>
        <p:spPr>
          <a:xfrm>
            <a:off x="586740" y="4306824"/>
            <a:ext cx="3063240" cy="1097280"/>
          </a:xfrm>
          <a:prstGeom prst="rect">
            <a:avLst/>
          </a:prstGeom>
          <a:solidFill>
            <a:srgbClr val="DEE1EF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21" name="TextBox 23">
            <a:extLst>
              <a:ext uri="{FF2B5EF4-FFF2-40B4-BE49-F238E27FC236}">
                <a16:creationId xmlns:a16="http://schemas.microsoft.com/office/drawing/2014/main" id="{652D04A2-DDA1-32DB-1C02-C6557C608D5F}"/>
              </a:ext>
            </a:extLst>
          </p:cNvPr>
          <p:cNvSpPr>
            <a:spLocks noGrp="1"/>
          </p:cNvSpPr>
          <p:nvPr/>
        </p:nvSpPr>
        <p:spPr>
          <a:xfrm>
            <a:off x="586740" y="4698498"/>
            <a:ext cx="306324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魏希浩</a:t>
            </a:r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2B2525BF-082F-9011-D5DF-99E0ED03E402}"/>
              </a:ext>
            </a:extLst>
          </p:cNvPr>
          <p:cNvSpPr>
            <a:spLocks noGrp="1"/>
          </p:cNvSpPr>
          <p:nvPr/>
        </p:nvSpPr>
        <p:spPr>
          <a:xfrm>
            <a:off x="3649980" y="4306824"/>
            <a:ext cx="5074920" cy="1097280"/>
          </a:xfrm>
          <a:prstGeom prst="rect">
            <a:avLst/>
          </a:prstGeom>
          <a:solidFill>
            <a:srgbClr val="DEE1EF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23" name="TextBox 25">
            <a:extLst>
              <a:ext uri="{FF2B5EF4-FFF2-40B4-BE49-F238E27FC236}">
                <a16:creationId xmlns:a16="http://schemas.microsoft.com/office/drawing/2014/main" id="{2E9A3885-1584-F662-7606-122B313BEC66}"/>
              </a:ext>
            </a:extLst>
          </p:cNvPr>
          <p:cNvSpPr>
            <a:spLocks noGrp="1"/>
          </p:cNvSpPr>
          <p:nvPr/>
        </p:nvSpPr>
        <p:spPr>
          <a:xfrm>
            <a:off x="3649980" y="4452276"/>
            <a:ext cx="5074920" cy="806375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1、</a:t>
            </a:r>
            <a:r>
              <a:rPr sz="1600"/>
              <a:t>实验对比与结果整理；</a:t>
            </a:r>
            <a:br/>
            <a:r>
              <a:rPr sz="1600"/>
              <a:t>2、算法效果分析</a:t>
            </a:r>
            <a:br/>
            <a:r>
              <a:rPr sz="1600"/>
              <a:t>3、PPT框架搭建</a:t>
            </a:r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F9F1B97B-DE18-C851-2B42-2B86A104B204}"/>
              </a:ext>
            </a:extLst>
          </p:cNvPr>
          <p:cNvSpPr>
            <a:spLocks noGrp="1"/>
          </p:cNvSpPr>
          <p:nvPr/>
        </p:nvSpPr>
        <p:spPr>
          <a:xfrm>
            <a:off x="8724900" y="4306824"/>
            <a:ext cx="2880360" cy="1097280"/>
          </a:xfrm>
          <a:prstGeom prst="rect">
            <a:avLst/>
          </a:prstGeom>
          <a:solidFill>
            <a:srgbClr val="DEE1EF"/>
          </a:solidFill>
          <a:ln w="13970">
            <a:solidFill>
              <a:srgbClr val="F5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25" name="TextBox 27">
            <a:extLst>
              <a:ext uri="{FF2B5EF4-FFF2-40B4-BE49-F238E27FC236}">
                <a16:creationId xmlns:a16="http://schemas.microsoft.com/office/drawing/2014/main" id="{AD9DFF74-6492-0B6C-E1FF-E4D2A13DA1F5}"/>
              </a:ext>
            </a:extLst>
          </p:cNvPr>
          <p:cNvSpPr>
            <a:spLocks noGrp="1"/>
          </p:cNvSpPr>
          <p:nvPr/>
        </p:nvSpPr>
        <p:spPr>
          <a:xfrm>
            <a:off x="8724900" y="4698498"/>
            <a:ext cx="288036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323A47"/>
                </a:solidFill>
                <a:latin typeface="微软雅黑(正文)"/>
                <a:ea typeface="微软雅黑(正文)"/>
                <a:cs typeface="微软雅黑(正文)"/>
              </a:rPr>
              <a:t>33.3%</a:t>
            </a:r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62C2F493-E0B4-FDF6-65C3-F4D75CD2BC63}"/>
              </a:ext>
            </a:extLst>
          </p:cNvPr>
          <p:cNvSpPr>
            <a:spLocks noGrp="1"/>
          </p:cNvSpPr>
          <p:nvPr/>
        </p:nvSpPr>
        <p:spPr>
          <a:xfrm>
            <a:off x="586740" y="1453896"/>
            <a:ext cx="11018520" cy="3950207"/>
          </a:xfrm>
          <a:prstGeom prst="rect">
            <a:avLst/>
          </a:prstGeom>
          <a:noFill/>
          <a:ln w="8890">
            <a:solidFill>
              <a:srgbClr val="E6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223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D52E075-8D65-4672-90E0-4463DAECD74D}"/>
              </a:ext>
            </a:extLst>
          </p:cNvPr>
          <p:cNvSpPr>
            <a:spLocks noGrp="1"/>
          </p:cNvSpPr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F92FBD6D-99BD-4A0A-BE14-AF4F2D2550A4}"/>
              </a:ext>
            </a:extLst>
          </p:cNvPr>
          <p:cNvSpPr>
            <a:spLocks noGrp="1"/>
          </p:cNvSpPr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D36F8C35-AF53-4322-B9CB-023B0D5B35AC}"/>
              </a:ext>
            </a:extLst>
          </p:cNvPr>
          <p:cNvSpPr>
            <a:spLocks noGrp="1"/>
          </p:cNvSpPr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A1941D-1EFD-4A87-97EA-EB6D06C44E90}"/>
              </a:ext>
            </a:extLst>
          </p:cNvPr>
          <p:cNvSpPr>
            <a:spLocks noGrp="1"/>
          </p:cNvSpPr>
          <p:nvPr/>
        </p:nvSpPr>
        <p:spPr>
          <a:xfrm>
            <a:off x="1948069" y="2921168"/>
            <a:ext cx="829586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6000" b="1" spc="3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恳请老师同学批评指正</a:t>
            </a:r>
          </a:p>
        </p:txBody>
      </p:sp>
    </p:spTree>
    <p:extLst>
      <p:ext uri="{BB962C8B-B14F-4D97-AF65-F5344CB8AC3E}">
        <p14:creationId xmlns:p14="http://schemas.microsoft.com/office/powerpoint/2010/main" val="65429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1307</Words>
  <Application>Microsoft Office PowerPoint</Application>
  <DocSecurity>0</DocSecurity>
  <PresentationFormat>宽屏</PresentationFormat>
  <Paragraphs>105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Microsoft YaHei UI</vt:lpstr>
      <vt:lpstr>黑体</vt:lpstr>
      <vt:lpstr>Microsoft YaHei</vt:lpstr>
      <vt:lpstr>微软雅黑 (正文)</vt:lpstr>
      <vt:lpstr>微软雅黑(正文)</vt:lpstr>
      <vt:lpstr>Arial</vt:lpstr>
      <vt:lpstr>Cambria Math</vt:lpstr>
      <vt:lpstr>Georgia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xihao wei</cp:lastModifiedBy>
  <cp:revision>31</cp:revision>
  <dcterms:created xsi:type="dcterms:W3CDTF">2026-06-19T11:22:48Z</dcterms:created>
  <dcterms:modified xsi:type="dcterms:W3CDTF">2026-06-21T08:39:30Z</dcterms:modified>
</cp:coreProperties>
</file>